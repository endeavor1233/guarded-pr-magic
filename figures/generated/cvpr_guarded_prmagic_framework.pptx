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308725" cy="2430463"/>
  <p:notesSz cx="2430463" cy="63087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812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187960"/>
            <a:ext cx="850900" cy="939800"/>
          </a:xfrm>
          <a:prstGeom prst="roundRect">
            <a:avLst>
              <a:gd name="adj" fmla="val 3880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38100"/>
            <a:ext cx="85090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Reference-conditioned input</a:t>
            </a:r>
          </a:p>
        </p:txBody>
      </p:sp>
      <p:sp>
        <p:nvSpPr>
          <p:cNvPr id="4" name="Shape 4"/>
          <p:cNvSpPr/>
          <p:nvPr/>
        </p:nvSpPr>
        <p:spPr>
          <a:xfrm>
            <a:off x="139700" y="289560"/>
            <a:ext cx="647700" cy="317500"/>
          </a:xfrm>
          <a:custGeom>
            <a:avLst/>
            <a:gdLst/>
            <a:ahLst/>
            <a:cxnLst/>
            <a:rect l="0" t="0" r="r" b="b"/>
            <a:pathLst>
              <a:path w="647700" h="317500">
                <a:moveTo>
                  <a:pt x="88900" y="0"/>
                </a:moveTo>
                <a:lnTo>
                  <a:pt x="647700" y="0"/>
                </a:lnTo>
                <a:lnTo>
                  <a:pt x="558800" y="317500"/>
                </a:lnTo>
                <a:lnTo>
                  <a:pt x="0" y="317500"/>
                </a:lnTo>
                <a:close/>
              </a:path>
            </a:pathLst>
          </a:cu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Support image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+ mask</a:t>
            </a:r>
          </a:p>
        </p:txBody>
      </p:sp>
      <p:sp>
        <p:nvSpPr>
          <p:cNvPr id="5" name="Shape 5"/>
          <p:cNvSpPr/>
          <p:nvPr/>
        </p:nvSpPr>
        <p:spPr>
          <a:xfrm>
            <a:off x="139700" y="708660"/>
            <a:ext cx="647700" cy="317500"/>
          </a:xfrm>
          <a:custGeom>
            <a:avLst/>
            <a:gdLst/>
            <a:ahLst/>
            <a:cxnLst/>
            <a:rect l="0" t="0" r="r" b="b"/>
            <a:pathLst>
              <a:path w="647700" h="317500">
                <a:moveTo>
                  <a:pt x="88900" y="0"/>
                </a:moveTo>
                <a:lnTo>
                  <a:pt x="647700" y="0"/>
                </a:lnTo>
                <a:lnTo>
                  <a:pt x="558800" y="317500"/>
                </a:lnTo>
                <a:lnTo>
                  <a:pt x="0" y="317500"/>
                </a:lnTo>
                <a:close/>
              </a:path>
            </a:pathLst>
          </a:cu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Query image</a:t>
            </a:r>
          </a:p>
        </p:txBody>
      </p:sp>
      <p:sp>
        <p:nvSpPr>
          <p:cNvPr id="6" name="Stage 6"/>
          <p:cNvSpPr/>
          <p:nvPr/>
        </p:nvSpPr>
        <p:spPr>
          <a:xfrm>
            <a:off x="1210183" y="187960"/>
            <a:ext cx="1296251" cy="2204720"/>
          </a:xfrm>
          <a:prstGeom prst="roundRect">
            <a:avLst>
              <a:gd name="adj" fmla="val 2547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" name="StageTitle 7"/>
          <p:cNvSpPr txBox="1"/>
          <p:nvPr/>
        </p:nvSpPr>
        <p:spPr>
          <a:xfrm>
            <a:off x="1210183" y="38100"/>
            <a:ext cx="1296251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Training-free candidate generation</a:t>
            </a:r>
          </a:p>
        </p:txBody>
      </p:sp>
      <p:sp>
        <p:nvSpPr>
          <p:cNvPr id="8" name="Shape 8"/>
          <p:cNvSpPr/>
          <p:nvPr/>
        </p:nvSpPr>
        <p:spPr>
          <a:xfrm>
            <a:off x="1337615" y="360045"/>
            <a:ext cx="482600" cy="317500"/>
          </a:xfrm>
          <a:custGeom>
            <a:avLst/>
            <a:gdLst/>
            <a:ahLst/>
            <a:cxnLst/>
            <a:rect l="0" t="0" r="r" b="b"/>
            <a:pathLst>
              <a:path w="482600" h="317500">
                <a:moveTo>
                  <a:pt x="0" y="0"/>
                </a:moveTo>
                <a:lnTo>
                  <a:pt x="482600" y="69850"/>
                </a:lnTo>
                <a:lnTo>
                  <a:pt x="482600" y="247650"/>
                </a:lnTo>
                <a:lnTo>
                  <a:pt x="0" y="317500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Frozen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encoder</a:t>
            </a:r>
          </a:p>
        </p:txBody>
      </p:sp>
      <p:sp>
        <p:nvSpPr>
          <p:cNvPr id="9" name="SlabTop 9"/>
          <p:cNvSpPr/>
          <p:nvPr/>
        </p:nvSpPr>
        <p:spPr>
          <a:xfrm>
            <a:off x="1909115" y="2895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6F2D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0" name="SlabSide 10"/>
          <p:cNvSpPr/>
          <p:nvPr/>
        </p:nvSpPr>
        <p:spPr>
          <a:xfrm>
            <a:off x="1985315" y="289560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CBD8C3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1" name="SlabFace 11"/>
          <p:cNvSpPr/>
          <p:nvPr/>
        </p:nvSpPr>
        <p:spPr>
          <a:xfrm>
            <a:off x="1909115" y="335280"/>
            <a:ext cx="76200" cy="292100"/>
          </a:xfrm>
          <a:prstGeom prst="rect">
            <a:avLst/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2" name="SlabTop 12"/>
          <p:cNvSpPr/>
          <p:nvPr/>
        </p:nvSpPr>
        <p:spPr>
          <a:xfrm>
            <a:off x="2023415" y="2895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6F2D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3" name="SlabSide 13"/>
          <p:cNvSpPr/>
          <p:nvPr/>
        </p:nvSpPr>
        <p:spPr>
          <a:xfrm>
            <a:off x="2099615" y="289560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CBD8C3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4" name="SlabFace 14"/>
          <p:cNvSpPr/>
          <p:nvPr/>
        </p:nvSpPr>
        <p:spPr>
          <a:xfrm>
            <a:off x="2023415" y="335280"/>
            <a:ext cx="76200" cy="292100"/>
          </a:xfrm>
          <a:prstGeom prst="rect">
            <a:avLst/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5" name="SlabTop 15"/>
          <p:cNvSpPr/>
          <p:nvPr/>
        </p:nvSpPr>
        <p:spPr>
          <a:xfrm>
            <a:off x="2137715" y="2895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6F2D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6" name="SlabSide 16"/>
          <p:cNvSpPr/>
          <p:nvPr/>
        </p:nvSpPr>
        <p:spPr>
          <a:xfrm>
            <a:off x="2213915" y="289560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CBD8C3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7" name="SlabFace 17"/>
          <p:cNvSpPr/>
          <p:nvPr/>
        </p:nvSpPr>
        <p:spPr>
          <a:xfrm>
            <a:off x="2137715" y="335280"/>
            <a:ext cx="76200" cy="292100"/>
          </a:xfrm>
          <a:prstGeom prst="rect">
            <a:avLst/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8" name="SlabTop 18"/>
          <p:cNvSpPr/>
          <p:nvPr/>
        </p:nvSpPr>
        <p:spPr>
          <a:xfrm>
            <a:off x="2252015" y="2895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E6F2DF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9" name="SlabSide 19"/>
          <p:cNvSpPr/>
          <p:nvPr/>
        </p:nvSpPr>
        <p:spPr>
          <a:xfrm>
            <a:off x="2328215" y="289560"/>
            <a:ext cx="45720" cy="337820"/>
          </a:xfrm>
          <a:custGeom>
            <a:avLst/>
            <a:gdLst/>
            <a:ahLst/>
            <a:cxnLst/>
            <a:rect l="0" t="0" r="r" b="b"/>
            <a:pathLst>
              <a:path w="45720" h="337820">
                <a:moveTo>
                  <a:pt x="0" y="45720"/>
                </a:moveTo>
                <a:lnTo>
                  <a:pt x="45720" y="0"/>
                </a:lnTo>
                <a:lnTo>
                  <a:pt x="45720" y="292100"/>
                </a:lnTo>
                <a:lnTo>
                  <a:pt x="0" y="337820"/>
                </a:lnTo>
                <a:close/>
              </a:path>
            </a:pathLst>
          </a:custGeom>
          <a:solidFill>
            <a:srgbClr val="CBD8C3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0" name="SlabFace 20"/>
          <p:cNvSpPr/>
          <p:nvPr/>
        </p:nvSpPr>
        <p:spPr>
          <a:xfrm>
            <a:off x="2252015" y="335280"/>
            <a:ext cx="76200" cy="292100"/>
          </a:xfrm>
          <a:prstGeom prst="rect">
            <a:avLst/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1" name="Caption 21"/>
          <p:cNvSpPr txBox="1"/>
          <p:nvPr/>
        </p:nvSpPr>
        <p:spPr>
          <a:xfrm>
            <a:off x="1909115" y="665480"/>
            <a:ext cx="469875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/>
                <a:cs typeface="Times New Roman"/>
              </a:rPr>
              <a:t>query features</a:t>
            </a:r>
          </a:p>
        </p:txBody>
      </p:sp>
      <p:sp>
        <p:nvSpPr>
          <p:cNvPr id="22" name="Stage 22"/>
          <p:cNvSpPr/>
          <p:nvPr/>
        </p:nvSpPr>
        <p:spPr>
          <a:xfrm>
            <a:off x="1311783" y="1052830"/>
            <a:ext cx="1093051" cy="1238250"/>
          </a:xfrm>
          <a:prstGeom prst="roundRect">
            <a:avLst>
              <a:gd name="adj" fmla="val 3020"/>
            </a:avLst>
          </a:prstGeom>
          <a:solidFill>
            <a:srgbClr val="EAF1FA"/>
          </a:solidFill>
          <a:ln w="4572" cap="flat">
            <a:solidFill>
              <a:srgbClr val="2E75B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3" name="Badge 23"/>
          <p:cNvSpPr txBox="1"/>
          <p:nvPr/>
        </p:nvSpPr>
        <p:spPr>
          <a:xfrm>
            <a:off x="2084375" y="1040130"/>
            <a:ext cx="304800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600" i="1" dirty="0">
                <a:solidFill>
                  <a:srgbClr val="000000"/>
                </a:solidFill>
                <a:latin typeface="Times New Roman"/>
                <a:cs typeface="Times New Roman"/>
              </a:rPr>
              <a:t>x5</a:t>
            </a:r>
          </a:p>
        </p:txBody>
      </p:sp>
      <p:sp>
        <p:nvSpPr>
          <p:cNvPr id="24" name="Module 24"/>
          <p:cNvSpPr/>
          <p:nvPr/>
        </p:nvSpPr>
        <p:spPr>
          <a:xfrm>
            <a:off x="1387983" y="1129030"/>
            <a:ext cx="940651" cy="195580"/>
          </a:xfrm>
          <a:prstGeom prst="roundRect">
            <a:avLst>
              <a:gd name="adj" fmla="val 16883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Gradient-flow update</a:t>
            </a:r>
          </a:p>
        </p:txBody>
      </p:sp>
      <p:sp>
        <p:nvSpPr>
          <p:cNvPr id="25" name="Shape 25"/>
          <p:cNvSpPr/>
          <p:nvPr/>
        </p:nvSpPr>
        <p:spPr>
          <a:xfrm>
            <a:off x="1515402" y="1388110"/>
            <a:ext cx="685800" cy="279400"/>
          </a:xfrm>
          <a:custGeom>
            <a:avLst/>
            <a:gdLst/>
            <a:ahLst/>
            <a:cxnLst/>
            <a:rect l="0" t="0" r="r" b="b"/>
            <a:pathLst>
              <a:path w="685800" h="279400">
                <a:moveTo>
                  <a:pt x="0" y="61468"/>
                </a:moveTo>
                <a:lnTo>
                  <a:pt x="685800" y="0"/>
                </a:lnTo>
                <a:lnTo>
                  <a:pt x="685800" y="279400"/>
                </a:lnTo>
                <a:lnTo>
                  <a:pt x="0" y="217932"/>
                </a:lnTo>
                <a:close/>
              </a:path>
            </a:pathLst>
          </a:cu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Mask decoder</a:t>
            </a:r>
          </a:p>
        </p:txBody>
      </p:sp>
      <p:sp>
        <p:nvSpPr>
          <p:cNvPr id="26" name="SlabTop 26"/>
          <p:cNvSpPr/>
          <p:nvPr/>
        </p:nvSpPr>
        <p:spPr>
          <a:xfrm>
            <a:off x="15115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7" name="SlabSide 27"/>
          <p:cNvSpPr/>
          <p:nvPr/>
        </p:nvSpPr>
        <p:spPr>
          <a:xfrm>
            <a:off x="15877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8" name="SlabFace 28"/>
          <p:cNvSpPr/>
          <p:nvPr/>
        </p:nvSpPr>
        <p:spPr>
          <a:xfrm>
            <a:off x="15115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9" name="SlabTop 29"/>
          <p:cNvSpPr/>
          <p:nvPr/>
        </p:nvSpPr>
        <p:spPr>
          <a:xfrm>
            <a:off x="16258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0" name="SlabSide 30"/>
          <p:cNvSpPr/>
          <p:nvPr/>
        </p:nvSpPr>
        <p:spPr>
          <a:xfrm>
            <a:off x="17020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1" name="SlabFace 31"/>
          <p:cNvSpPr/>
          <p:nvPr/>
        </p:nvSpPr>
        <p:spPr>
          <a:xfrm>
            <a:off x="16258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2" name="SlabTop 32"/>
          <p:cNvSpPr/>
          <p:nvPr/>
        </p:nvSpPr>
        <p:spPr>
          <a:xfrm>
            <a:off x="17401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3" name="SlabSide 33"/>
          <p:cNvSpPr/>
          <p:nvPr/>
        </p:nvSpPr>
        <p:spPr>
          <a:xfrm>
            <a:off x="18163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4" name="SlabFace 34"/>
          <p:cNvSpPr/>
          <p:nvPr/>
        </p:nvSpPr>
        <p:spPr>
          <a:xfrm>
            <a:off x="17401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5" name="SlabTop 35"/>
          <p:cNvSpPr/>
          <p:nvPr/>
        </p:nvSpPr>
        <p:spPr>
          <a:xfrm>
            <a:off x="18544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6" name="SlabSide 36"/>
          <p:cNvSpPr/>
          <p:nvPr/>
        </p:nvSpPr>
        <p:spPr>
          <a:xfrm>
            <a:off x="19306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7" name="SlabFace 37"/>
          <p:cNvSpPr/>
          <p:nvPr/>
        </p:nvSpPr>
        <p:spPr>
          <a:xfrm>
            <a:off x="18544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8" name="SlabTop 38"/>
          <p:cNvSpPr/>
          <p:nvPr/>
        </p:nvSpPr>
        <p:spPr>
          <a:xfrm>
            <a:off x="19687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9" name="SlabSide 39"/>
          <p:cNvSpPr/>
          <p:nvPr/>
        </p:nvSpPr>
        <p:spPr>
          <a:xfrm>
            <a:off x="20449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0" name="SlabFace 40"/>
          <p:cNvSpPr/>
          <p:nvPr/>
        </p:nvSpPr>
        <p:spPr>
          <a:xfrm>
            <a:off x="19687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1" name="SlabTop 41"/>
          <p:cNvSpPr/>
          <p:nvPr/>
        </p:nvSpPr>
        <p:spPr>
          <a:xfrm>
            <a:off x="2083092" y="173101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2" name="SlabSide 42"/>
          <p:cNvSpPr/>
          <p:nvPr/>
        </p:nvSpPr>
        <p:spPr>
          <a:xfrm>
            <a:off x="2159292" y="1731010"/>
            <a:ext cx="45720" cy="363220"/>
          </a:xfrm>
          <a:custGeom>
            <a:avLst/>
            <a:gdLst/>
            <a:ahLst/>
            <a:cxnLst/>
            <a:rect l="0" t="0" r="r" b="b"/>
            <a:pathLst>
              <a:path w="45720" h="363220">
                <a:moveTo>
                  <a:pt x="0" y="45720"/>
                </a:moveTo>
                <a:lnTo>
                  <a:pt x="45720" y="0"/>
                </a:lnTo>
                <a:lnTo>
                  <a:pt x="45720" y="317500"/>
                </a:lnTo>
                <a:lnTo>
                  <a:pt x="0" y="3632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3" name="SlabFace 43"/>
          <p:cNvSpPr/>
          <p:nvPr/>
        </p:nvSpPr>
        <p:spPr>
          <a:xfrm>
            <a:off x="2083092" y="1776730"/>
            <a:ext cx="76200" cy="3175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4" name="Caption 44"/>
          <p:cNvSpPr txBox="1"/>
          <p:nvPr/>
        </p:nvSpPr>
        <p:spPr>
          <a:xfrm>
            <a:off x="1511592" y="2132330"/>
            <a:ext cx="69342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/>
                <a:cs typeface="Times New Roman"/>
              </a:rPr>
              <a:t>candidate masks</a:t>
            </a:r>
          </a:p>
        </p:txBody>
      </p:sp>
      <p:sp>
        <p:nvSpPr>
          <p:cNvPr id="45" name="Stage 45"/>
          <p:cNvSpPr/>
          <p:nvPr/>
        </p:nvSpPr>
        <p:spPr>
          <a:xfrm>
            <a:off x="2827617" y="187960"/>
            <a:ext cx="1480053" cy="1593850"/>
          </a:xfrm>
          <a:prstGeom prst="roundRect">
            <a:avLst>
              <a:gd name="adj" fmla="val 2231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6" name="StageTitle 46"/>
          <p:cNvSpPr txBox="1"/>
          <p:nvPr/>
        </p:nvSpPr>
        <p:spPr>
          <a:xfrm>
            <a:off x="2827617" y="38100"/>
            <a:ext cx="1480053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Original candidate selector</a:t>
            </a:r>
          </a:p>
        </p:txBody>
      </p:sp>
      <p:sp>
        <p:nvSpPr>
          <p:cNvPr id="47" name="Module 47"/>
          <p:cNvSpPr/>
          <p:nvPr/>
        </p:nvSpPr>
        <p:spPr>
          <a:xfrm>
            <a:off x="2929217" y="289560"/>
            <a:ext cx="1276853" cy="195580"/>
          </a:xfrm>
          <a:prstGeom prst="roundRect">
            <a:avLst>
              <a:gd name="adj" fmla="val 16883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Original score S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rig(t)</a:t>
            </a:r>
          </a:p>
        </p:txBody>
      </p:sp>
      <p:sp>
        <p:nvSpPr>
          <p:cNvPr id="48" name="Module 48"/>
          <p:cNvSpPr/>
          <p:nvPr/>
        </p:nvSpPr>
        <p:spPr>
          <a:xfrm>
            <a:off x="2929217" y="599440"/>
            <a:ext cx="1276853" cy="185420"/>
          </a:xfrm>
          <a:prstGeom prst="roundRect">
            <a:avLst>
              <a:gd name="adj" fmla="val 17808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20" dirty="0">
                <a:solidFill>
                  <a:srgbClr val="000000"/>
                </a:solidFill>
                <a:latin typeface="Times New Roman"/>
                <a:cs typeface="Times New Roman"/>
              </a:rPr>
              <a:t>support + confidence + foreground</a:t>
            </a:r>
          </a:p>
        </p:txBody>
      </p:sp>
      <p:sp>
        <p:nvSpPr>
          <p:cNvPr id="49" name="SlabTop 49"/>
          <p:cNvSpPr/>
          <p:nvPr/>
        </p:nvSpPr>
        <p:spPr>
          <a:xfrm>
            <a:off x="32209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0" name="SlabSide 50"/>
          <p:cNvSpPr/>
          <p:nvPr/>
        </p:nvSpPr>
        <p:spPr>
          <a:xfrm>
            <a:off x="32971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1" name="SlabFace 51"/>
          <p:cNvSpPr/>
          <p:nvPr/>
        </p:nvSpPr>
        <p:spPr>
          <a:xfrm>
            <a:off x="32209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2" name="SlabTop 52"/>
          <p:cNvSpPr/>
          <p:nvPr/>
        </p:nvSpPr>
        <p:spPr>
          <a:xfrm>
            <a:off x="33352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3" name="SlabSide 53"/>
          <p:cNvSpPr/>
          <p:nvPr/>
        </p:nvSpPr>
        <p:spPr>
          <a:xfrm>
            <a:off x="34114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4" name="SlabFace 54"/>
          <p:cNvSpPr/>
          <p:nvPr/>
        </p:nvSpPr>
        <p:spPr>
          <a:xfrm>
            <a:off x="33352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5" name="SlabTop 55"/>
          <p:cNvSpPr/>
          <p:nvPr/>
        </p:nvSpPr>
        <p:spPr>
          <a:xfrm>
            <a:off x="34495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6" name="SlabSide 56"/>
          <p:cNvSpPr/>
          <p:nvPr/>
        </p:nvSpPr>
        <p:spPr>
          <a:xfrm>
            <a:off x="35257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7" name="SlabFace 57"/>
          <p:cNvSpPr/>
          <p:nvPr/>
        </p:nvSpPr>
        <p:spPr>
          <a:xfrm>
            <a:off x="34495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8" name="SlabTop 58"/>
          <p:cNvSpPr/>
          <p:nvPr/>
        </p:nvSpPr>
        <p:spPr>
          <a:xfrm>
            <a:off x="35638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9" name="SlabSide 59"/>
          <p:cNvSpPr/>
          <p:nvPr/>
        </p:nvSpPr>
        <p:spPr>
          <a:xfrm>
            <a:off x="36400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0" name="SlabFace 60"/>
          <p:cNvSpPr/>
          <p:nvPr/>
        </p:nvSpPr>
        <p:spPr>
          <a:xfrm>
            <a:off x="35638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1" name="SlabTop 61"/>
          <p:cNvSpPr/>
          <p:nvPr/>
        </p:nvSpPr>
        <p:spPr>
          <a:xfrm>
            <a:off x="36781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2" name="SlabSide 62"/>
          <p:cNvSpPr/>
          <p:nvPr/>
        </p:nvSpPr>
        <p:spPr>
          <a:xfrm>
            <a:off x="37543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3" name="SlabFace 63"/>
          <p:cNvSpPr/>
          <p:nvPr/>
        </p:nvSpPr>
        <p:spPr>
          <a:xfrm>
            <a:off x="36781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4" name="SlabTop 64"/>
          <p:cNvSpPr/>
          <p:nvPr/>
        </p:nvSpPr>
        <p:spPr>
          <a:xfrm>
            <a:off x="3792423" y="899160"/>
            <a:ext cx="121920" cy="45720"/>
          </a:xfrm>
          <a:custGeom>
            <a:avLst/>
            <a:gdLst/>
            <a:ahLst/>
            <a:cxnLst/>
            <a:rect l="0" t="0" r="r" b="b"/>
            <a:pathLst>
              <a:path w="121920" h="45720">
                <a:moveTo>
                  <a:pt x="0" y="45720"/>
                </a:moveTo>
                <a:lnTo>
                  <a:pt x="45720" y="0"/>
                </a:lnTo>
                <a:lnTo>
                  <a:pt x="121920" y="0"/>
                </a:lnTo>
                <a:lnTo>
                  <a:pt x="762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5" name="SlabSide 65"/>
          <p:cNvSpPr/>
          <p:nvPr/>
        </p:nvSpPr>
        <p:spPr>
          <a:xfrm>
            <a:off x="3868623" y="899160"/>
            <a:ext cx="45720" cy="350520"/>
          </a:xfrm>
          <a:custGeom>
            <a:avLst/>
            <a:gdLst/>
            <a:ahLst/>
            <a:cxnLst/>
            <a:rect l="0" t="0" r="r" b="b"/>
            <a:pathLst>
              <a:path w="45720" h="350520">
                <a:moveTo>
                  <a:pt x="0" y="45720"/>
                </a:moveTo>
                <a:lnTo>
                  <a:pt x="45720" y="0"/>
                </a:lnTo>
                <a:lnTo>
                  <a:pt x="45720" y="304800"/>
                </a:lnTo>
                <a:lnTo>
                  <a:pt x="0" y="3505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6" name="SlabFace 66"/>
          <p:cNvSpPr/>
          <p:nvPr/>
        </p:nvSpPr>
        <p:spPr>
          <a:xfrm>
            <a:off x="3792423" y="944880"/>
            <a:ext cx="76200" cy="3048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67" name="Caption 67"/>
          <p:cNvSpPr txBox="1"/>
          <p:nvPr/>
        </p:nvSpPr>
        <p:spPr>
          <a:xfrm>
            <a:off x="3220923" y="1287780"/>
            <a:ext cx="693420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/>
                <a:cs typeface="Times New Roman"/>
              </a:rPr>
              <a:t>rank candidates</a:t>
            </a:r>
          </a:p>
        </p:txBody>
      </p:sp>
      <p:sp>
        <p:nvSpPr>
          <p:cNvPr id="68" name="Module 68"/>
          <p:cNvSpPr/>
          <p:nvPr/>
        </p:nvSpPr>
        <p:spPr>
          <a:xfrm>
            <a:off x="2929217" y="1484630"/>
            <a:ext cx="1276853" cy="195580"/>
          </a:xfrm>
          <a:prstGeom prst="roundRect">
            <a:avLst>
              <a:gd name="adj" fmla="val 16883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Proposal t</a:t>
            </a:r>
          </a:p>
        </p:txBody>
      </p:sp>
      <p:sp>
        <p:nvSpPr>
          <p:cNvPr id="69" name="Stage 69"/>
          <p:cNvSpPr/>
          <p:nvPr/>
        </p:nvSpPr>
        <p:spPr>
          <a:xfrm>
            <a:off x="4628845" y="187960"/>
            <a:ext cx="1642415" cy="1254760"/>
          </a:xfrm>
          <a:prstGeom prst="roundRect">
            <a:avLst>
              <a:gd name="adj" fmla="val 2631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0" name="StageTitle 70"/>
          <p:cNvSpPr txBox="1"/>
          <p:nvPr/>
        </p:nvSpPr>
        <p:spPr>
          <a:xfrm>
            <a:off x="4628845" y="38100"/>
            <a:ext cx="1642415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Baseline-relative gate (ours)</a:t>
            </a:r>
          </a:p>
        </p:txBody>
      </p:sp>
      <p:sp>
        <p:nvSpPr>
          <p:cNvPr id="71" name="Stage 71"/>
          <p:cNvSpPr/>
          <p:nvPr/>
        </p:nvSpPr>
        <p:spPr>
          <a:xfrm>
            <a:off x="4729810" y="289560"/>
            <a:ext cx="1439215" cy="1051560"/>
          </a:xfrm>
          <a:prstGeom prst="roundRect">
            <a:avLst>
              <a:gd name="adj" fmla="val 3140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2" name="Badge 72"/>
          <p:cNvSpPr txBox="1"/>
          <p:nvPr/>
        </p:nvSpPr>
        <p:spPr>
          <a:xfrm>
            <a:off x="5843593" y="279717"/>
            <a:ext cx="304800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600" i="1" dirty="0">
                <a:solidFill>
                  <a:srgbClr val="000000"/>
                </a:solidFill>
                <a:latin typeface="Times New Roman"/>
                <a:cs typeface="Times New Roman"/>
              </a:rPr>
              <a:t>ours</a:t>
            </a:r>
          </a:p>
        </p:txBody>
      </p:sp>
      <p:sp>
        <p:nvSpPr>
          <p:cNvPr id="73" name="Module 73"/>
          <p:cNvSpPr/>
          <p:nvPr/>
        </p:nvSpPr>
        <p:spPr>
          <a:xfrm>
            <a:off x="4878426" y="378460"/>
            <a:ext cx="1143254" cy="195580"/>
          </a:xfrm>
          <a:prstGeom prst="roundRect">
            <a:avLst>
              <a:gd name="adj" fmla="val 16883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Compare with baseline M0</a:t>
            </a:r>
          </a:p>
        </p:txBody>
      </p:sp>
      <p:sp>
        <p:nvSpPr>
          <p:cNvPr id="74" name="Shape 74"/>
          <p:cNvSpPr/>
          <p:nvPr/>
        </p:nvSpPr>
        <p:spPr>
          <a:xfrm>
            <a:off x="4954753" y="637540"/>
            <a:ext cx="990600" cy="355600"/>
          </a:xfrm>
          <a:custGeom>
            <a:avLst/>
            <a:gdLst/>
            <a:ahLst/>
            <a:cxnLst/>
            <a:rect l="0" t="0" r="r" b="b"/>
            <a:pathLst>
              <a:path w="990600" h="355600">
                <a:moveTo>
                  <a:pt x="158496" y="0"/>
                </a:moveTo>
                <a:lnTo>
                  <a:pt x="832104" y="0"/>
                </a:lnTo>
                <a:lnTo>
                  <a:pt x="990600" y="177800"/>
                </a:lnTo>
                <a:lnTo>
                  <a:pt x="832104" y="355600"/>
                </a:lnTo>
                <a:lnTo>
                  <a:pt x="158496" y="355600"/>
                </a:lnTo>
                <a:lnTo>
                  <a:pt x="0" y="177800"/>
                </a:lnTo>
                <a:close/>
              </a:path>
            </a:pathLst>
          </a:custGeom>
          <a:solidFill>
            <a:srgbClr val="FFD96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Baseline-relative check</a:t>
            </a:r>
          </a:p>
        </p:txBody>
      </p:sp>
      <p:sp>
        <p:nvSpPr>
          <p:cNvPr id="75" name="Module 75"/>
          <p:cNvSpPr/>
          <p:nvPr/>
        </p:nvSpPr>
        <p:spPr>
          <a:xfrm>
            <a:off x="4793945" y="1117441"/>
            <a:ext cx="555536" cy="195580"/>
          </a:xfrm>
          <a:prstGeom prst="roundRect">
            <a:avLst>
              <a:gd name="adj" fmla="val 16883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Accept Mt</a:t>
            </a:r>
          </a:p>
        </p:txBody>
      </p:sp>
      <p:sp>
        <p:nvSpPr>
          <p:cNvPr id="76" name="Module 76"/>
          <p:cNvSpPr/>
          <p:nvPr/>
        </p:nvSpPr>
        <p:spPr>
          <a:xfrm>
            <a:off x="5524620" y="1127760"/>
            <a:ext cx="629679" cy="195580"/>
          </a:xfrm>
          <a:prstGeom prst="roundRect">
            <a:avLst>
              <a:gd name="adj" fmla="val 16883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Fallback M0</a:t>
            </a:r>
          </a:p>
        </p:txBody>
      </p:sp>
      <p:sp>
        <p:nvSpPr>
          <p:cNvPr id="77" name="Flow 77"/>
          <p:cNvSpPr/>
          <p:nvPr/>
        </p:nvSpPr>
        <p:spPr>
          <a:xfrm>
            <a:off x="787400" y="360045"/>
            <a:ext cx="550215" cy="88265"/>
          </a:xfrm>
          <a:custGeom>
            <a:avLst/>
            <a:gdLst/>
            <a:ahLst/>
            <a:cxnLst/>
            <a:rect l="0" t="0" r="r" b="b"/>
            <a:pathLst>
              <a:path w="550215" h="88265" fill="none">
                <a:moveTo>
                  <a:pt x="0" y="88265"/>
                </a:moveTo>
                <a:lnTo>
                  <a:pt x="486715" y="88265"/>
                </a:lnTo>
                <a:lnTo>
                  <a:pt x="486715" y="0"/>
                </a:lnTo>
                <a:lnTo>
                  <a:pt x="550215" y="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8" name="Flow 78"/>
          <p:cNvSpPr/>
          <p:nvPr/>
        </p:nvSpPr>
        <p:spPr>
          <a:xfrm>
            <a:off x="787400" y="677545"/>
            <a:ext cx="550215" cy="189865"/>
          </a:xfrm>
          <a:custGeom>
            <a:avLst/>
            <a:gdLst/>
            <a:ahLst/>
            <a:cxnLst/>
            <a:rect l="0" t="0" r="r" b="b"/>
            <a:pathLst>
              <a:path w="550215" h="189865" fill="none">
                <a:moveTo>
                  <a:pt x="0" y="189865"/>
                </a:moveTo>
                <a:lnTo>
                  <a:pt x="486715" y="189865"/>
                </a:lnTo>
                <a:lnTo>
                  <a:pt x="486715" y="0"/>
                </a:lnTo>
                <a:lnTo>
                  <a:pt x="550215" y="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79" name="Flow 79"/>
          <p:cNvSpPr/>
          <p:nvPr/>
        </p:nvSpPr>
        <p:spPr>
          <a:xfrm>
            <a:off x="1820215" y="518795"/>
            <a:ext cx="88900" cy="1270"/>
          </a:xfrm>
          <a:custGeom>
            <a:avLst/>
            <a:gdLst/>
            <a:ahLst/>
            <a:cxnLst/>
            <a:rect l="0" t="0" r="r" b="b"/>
            <a:pathLst>
              <a:path w="88900" h="127" fill="none">
                <a:moveTo>
                  <a:pt x="0" y="0"/>
                </a:moveTo>
                <a:lnTo>
                  <a:pt x="88900" y="0"/>
                </a:lnTo>
              </a:path>
            </a:pathLst>
          </a:custGeom>
          <a:noFill/>
          <a:ln w="5715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0" name="Flow 80"/>
          <p:cNvSpPr/>
          <p:nvPr/>
        </p:nvSpPr>
        <p:spPr>
          <a:xfrm>
            <a:off x="1858308" y="748030"/>
            <a:ext cx="285744" cy="304800"/>
          </a:xfrm>
          <a:custGeom>
            <a:avLst/>
            <a:gdLst/>
            <a:ahLst/>
            <a:cxnLst/>
            <a:rect l="0" t="0" r="r" b="b"/>
            <a:pathLst>
              <a:path w="285744" h="304800" fill="none">
                <a:moveTo>
                  <a:pt x="285744" y="0"/>
                </a:moveTo>
                <a:lnTo>
                  <a:pt x="285744" y="152400"/>
                </a:lnTo>
                <a:lnTo>
                  <a:pt x="0" y="152400"/>
                </a:lnTo>
                <a:lnTo>
                  <a:pt x="0" y="304800"/>
                </a:lnTo>
              </a:path>
            </a:pathLst>
          </a:custGeom>
          <a:noFill/>
          <a:ln w="5715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1" name="Flow 81"/>
          <p:cNvSpPr/>
          <p:nvPr/>
        </p:nvSpPr>
        <p:spPr>
          <a:xfrm>
            <a:off x="1858302" y="1324610"/>
            <a:ext cx="1270" cy="63500"/>
          </a:xfrm>
          <a:custGeom>
            <a:avLst/>
            <a:gdLst/>
            <a:ahLst/>
            <a:cxnLst/>
            <a:rect l="0" t="0" r="r" b="b"/>
            <a:pathLst>
              <a:path w="127" h="63500" fill="none">
                <a:moveTo>
                  <a:pt x="6" y="0"/>
                </a:moveTo>
                <a:lnTo>
                  <a:pt x="0" y="63500"/>
                </a:lnTo>
              </a:path>
            </a:pathLst>
          </a:custGeom>
          <a:noFill/>
          <a:ln w="5715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2" name="Flow 82"/>
          <p:cNvSpPr/>
          <p:nvPr/>
        </p:nvSpPr>
        <p:spPr>
          <a:xfrm>
            <a:off x="1858302" y="1667510"/>
            <a:ext cx="1270" cy="63500"/>
          </a:xfrm>
          <a:custGeom>
            <a:avLst/>
            <a:gdLst/>
            <a:ahLst/>
            <a:cxnLst/>
            <a:rect l="0" t="0" r="r" b="b"/>
            <a:pathLst>
              <a:path w="127" h="63500" fill="none">
                <a:moveTo>
                  <a:pt x="0" y="0"/>
                </a:moveTo>
                <a:lnTo>
                  <a:pt x="0" y="63500"/>
                </a:lnTo>
              </a:path>
            </a:pathLst>
          </a:custGeom>
          <a:noFill/>
          <a:ln w="5715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3" name="Flow 83"/>
          <p:cNvSpPr/>
          <p:nvPr/>
        </p:nvSpPr>
        <p:spPr>
          <a:xfrm>
            <a:off x="2205012" y="387350"/>
            <a:ext cx="724205" cy="1585595"/>
          </a:xfrm>
          <a:custGeom>
            <a:avLst/>
            <a:gdLst/>
            <a:ahLst/>
            <a:cxnLst/>
            <a:rect l="0" t="0" r="r" b="b"/>
            <a:pathLst>
              <a:path w="724205" h="1585595" fill="none">
                <a:moveTo>
                  <a:pt x="0" y="1585595"/>
                </a:moveTo>
                <a:lnTo>
                  <a:pt x="660705" y="1585595"/>
                </a:lnTo>
                <a:lnTo>
                  <a:pt x="660705" y="0"/>
                </a:lnTo>
                <a:lnTo>
                  <a:pt x="724205" y="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4" name="Flow 84"/>
          <p:cNvSpPr/>
          <p:nvPr/>
        </p:nvSpPr>
        <p:spPr>
          <a:xfrm>
            <a:off x="3567643" y="48514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5" name="Flow 85"/>
          <p:cNvSpPr/>
          <p:nvPr/>
        </p:nvSpPr>
        <p:spPr>
          <a:xfrm>
            <a:off x="3567633" y="78486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10" y="0"/>
                </a:moveTo>
                <a:lnTo>
                  <a:pt x="0" y="11430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6" name="Flow 86"/>
          <p:cNvSpPr/>
          <p:nvPr/>
        </p:nvSpPr>
        <p:spPr>
          <a:xfrm>
            <a:off x="3567633" y="137033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0"/>
                </a:moveTo>
                <a:lnTo>
                  <a:pt x="10" y="11430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7" name="Flow 87"/>
          <p:cNvSpPr/>
          <p:nvPr/>
        </p:nvSpPr>
        <p:spPr>
          <a:xfrm>
            <a:off x="4206070" y="815340"/>
            <a:ext cx="524375" cy="767080"/>
          </a:xfrm>
          <a:custGeom>
            <a:avLst/>
            <a:gdLst/>
            <a:ahLst/>
            <a:cxnLst/>
            <a:rect l="0" t="0" r="r" b="b"/>
            <a:pathLst>
              <a:path w="524375" h="767080" fill="none">
                <a:moveTo>
                  <a:pt x="0" y="767080"/>
                </a:moveTo>
                <a:lnTo>
                  <a:pt x="460875" y="767080"/>
                </a:lnTo>
                <a:lnTo>
                  <a:pt x="460875" y="0"/>
                </a:lnTo>
                <a:lnTo>
                  <a:pt x="524375" y="0"/>
                </a:lnTo>
              </a:path>
            </a:pathLst>
          </a:custGeom>
          <a:noFill/>
          <a:ln w="10160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8" name="Flow 88"/>
          <p:cNvSpPr/>
          <p:nvPr/>
        </p:nvSpPr>
        <p:spPr>
          <a:xfrm>
            <a:off x="5450053" y="574040"/>
            <a:ext cx="1270" cy="63500"/>
          </a:xfrm>
          <a:custGeom>
            <a:avLst/>
            <a:gdLst/>
            <a:ahLst/>
            <a:cxnLst/>
            <a:rect l="0" t="0" r="r" b="b"/>
            <a:pathLst>
              <a:path w="127" h="63500" fill="none">
                <a:moveTo>
                  <a:pt x="0" y="0"/>
                </a:moveTo>
                <a:lnTo>
                  <a:pt x="0" y="635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9" name="Flow 89"/>
          <p:cNvSpPr/>
          <p:nvPr/>
        </p:nvSpPr>
        <p:spPr>
          <a:xfrm>
            <a:off x="4909034" y="815340"/>
            <a:ext cx="45719" cy="302101"/>
          </a:xfrm>
          <a:custGeom>
            <a:avLst/>
            <a:gdLst/>
            <a:ahLst/>
            <a:cxnLst/>
            <a:rect l="0" t="0" r="r" b="b"/>
            <a:pathLst>
              <a:path w="1189507" h="339090" fill="none">
                <a:moveTo>
                  <a:pt x="1189507" y="0"/>
                </a:moveTo>
                <a:lnTo>
                  <a:pt x="0" y="0"/>
                </a:lnTo>
                <a:lnTo>
                  <a:pt x="0" y="339090"/>
                </a:lnTo>
                <a:lnTo>
                  <a:pt x="63500" y="33909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90" name="FlowLabel 90"/>
          <p:cNvSpPr txBox="1"/>
          <p:nvPr/>
        </p:nvSpPr>
        <p:spPr>
          <a:xfrm>
            <a:off x="4766160" y="895350"/>
            <a:ext cx="152243" cy="990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580" dirty="0">
                <a:solidFill>
                  <a:srgbClr val="BF9000"/>
                </a:solidFill>
                <a:latin typeface="Times New Roman"/>
                <a:cs typeface="Times New Roman"/>
              </a:rPr>
              <a:t>pass</a:t>
            </a:r>
          </a:p>
        </p:txBody>
      </p:sp>
      <p:sp>
        <p:nvSpPr>
          <p:cNvPr id="92" name="FlowLabel 92"/>
          <p:cNvSpPr txBox="1"/>
          <p:nvPr/>
        </p:nvSpPr>
        <p:spPr>
          <a:xfrm>
            <a:off x="5991860" y="877570"/>
            <a:ext cx="123589" cy="990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580" dirty="0">
                <a:solidFill>
                  <a:srgbClr val="7F7F7F"/>
                </a:solidFill>
                <a:latin typeface="Times New Roman"/>
                <a:cs typeface="Times New Roman"/>
              </a:rPr>
              <a:t>fail</a:t>
            </a:r>
          </a:p>
        </p:txBody>
      </p:sp>
      <p:sp>
        <p:nvSpPr>
          <p:cNvPr id="93" name="Note 93"/>
          <p:cNvSpPr txBox="1"/>
          <p:nvPr/>
        </p:nvSpPr>
        <p:spPr>
          <a:xfrm>
            <a:off x="4729416" y="1328420"/>
            <a:ext cx="1453972" cy="101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" i="1" dirty="0">
                <a:solidFill>
                  <a:srgbClr val="595959"/>
                </a:solidFill>
                <a:latin typeface="Times New Roman"/>
                <a:cs typeface="Times New Roman"/>
              </a:rPr>
              <a:t>Query ground truth is used only for evaluation</a:t>
            </a:r>
          </a:p>
        </p:txBody>
      </p:sp>
      <p:sp>
        <p:nvSpPr>
          <p:cNvPr id="95" name="Flow 89">
            <a:extLst>
              <a:ext uri="{FF2B5EF4-FFF2-40B4-BE49-F238E27FC236}">
                <a16:creationId xmlns:a16="http://schemas.microsoft.com/office/drawing/2014/main" id="{9D3150BA-2616-7EA1-6F06-1F7E79C7AE80}"/>
              </a:ext>
            </a:extLst>
          </p:cNvPr>
          <p:cNvSpPr/>
          <p:nvPr/>
        </p:nvSpPr>
        <p:spPr>
          <a:xfrm flipH="1">
            <a:off x="5945351" y="814388"/>
            <a:ext cx="45719" cy="313371"/>
          </a:xfrm>
          <a:custGeom>
            <a:avLst/>
            <a:gdLst/>
            <a:ahLst/>
            <a:cxnLst/>
            <a:rect l="0" t="0" r="r" b="b"/>
            <a:pathLst>
              <a:path w="1189507" h="339090" fill="none">
                <a:moveTo>
                  <a:pt x="1189507" y="0"/>
                </a:moveTo>
                <a:lnTo>
                  <a:pt x="0" y="0"/>
                </a:lnTo>
                <a:lnTo>
                  <a:pt x="0" y="339090"/>
                </a:lnTo>
                <a:lnTo>
                  <a:pt x="63500" y="339090"/>
                </a:lnTo>
              </a:path>
            </a:pathLst>
          </a:custGeom>
          <a:ln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66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CVPR-Figure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1178577916@qq.com</cp:lastModifiedBy>
  <cp:revision>2</cp:revision>
  <dcterms:modified xsi:type="dcterms:W3CDTF">2026-09-05T05:37:49Z</dcterms:modified>
</cp:coreProperties>
</file>