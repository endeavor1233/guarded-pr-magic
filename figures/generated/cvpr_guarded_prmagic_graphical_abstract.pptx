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theme/theme1.xml" ContentType="application/vnd.openxmlformats-officedocument.them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3011170" cy="2740660"/>
  <p:notesSz cx="2740660" cy="301117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theme" Target="theme/them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age 2"/>
          <p:cNvSpPr/>
          <p:nvPr/>
        </p:nvSpPr>
        <p:spPr>
          <a:xfrm>
            <a:off x="38100" y="238760"/>
            <a:ext cx="1159662" cy="1027430"/>
          </a:xfrm>
          <a:prstGeom prst="roundRect">
            <a:avLst>
              <a:gd name="adj" fmla="val 3213"/>
            </a:avLst>
          </a:prstGeom>
          <a:noFill/>
          <a:ln w="4572" cap="flat">
            <a:solidFill>
              <a:srgbClr val="A6A6A6"/>
            </a:solidFill>
            <a:prstDash val="dash"/>
            <a:miter lim="800000"/>
          </a:ln>
        </p:spPr>
        <p:txBody>
          <a:bodyPr rtlCol="0" anchor="ctr" wrap="none" lIns="0" tIns="0" rIns="0" bIns="0"/>
          <a:lstStyle/>
          <a:p>
            <a:endParaRPr lang="en-US"/>
          </a:p>
        </p:txBody>
      </p:sp>
      <p:sp>
        <p:nvSpPr>
          <p:cNvPr id="3" name="StageTitle 3"/>
          <p:cNvSpPr txBox="1"/>
          <p:nvPr/>
        </p:nvSpPr>
        <p:spPr>
          <a:xfrm>
            <a:off x="38100" y="88900"/>
            <a:ext cx="1159662" cy="124460"/>
          </a:xfrm>
          <a:prstGeom prst="rect">
            <a:avLst/>
          </a:prstGeom>
          <a:noFill/>
        </p:spPr>
        <p:txBody>
          <a:bodyPr rtlCol="0" anchor="ctr" wrap="none" lIns="0" tIns="0" rIns="0" bIns="0">
            <a:spAutoFit/>
          </a:bodyPr>
          <a:lstStyle/>
          <a:p>
            <a:pPr algn="ctr"/>
            <a:r>
              <a:rPr lang="en-US" sz="780" b="1" i="1" dirty="0">
                <a:solidFill>
                  <a:srgbClr val="000000"/>
                </a:solidFill>
                <a:latin typeface="Times New Roman"/>
                <a:cs typeface="Times New Roman"/>
              </a:rPr>
              <a:t>Candidate pool</a:t>
            </a:r>
          </a:p>
        </p:txBody>
      </p:sp>
      <p:sp>
        <p:nvSpPr>
          <p:cNvPr id="4" name="SlabTop 4"/>
          <p:cNvSpPr/>
          <p:nvPr/>
        </p:nvSpPr>
        <p:spPr>
          <a:xfrm>
            <a:off x="233121" y="340360"/>
            <a:ext cx="134620" cy="45720"/>
          </a:xfrm>
          <a:custGeom>
            <a:avLst/>
            <a:gdLst/>
            <a:ahLst/>
            <a:cxnLst/>
            <a:rect l="0" t="0" r="r" b="b"/>
            <a:pathLst>
              <a:path w="134620" h="45720">
                <a:moveTo>
                  <a:pt x="0" y="45720"/>
                </a:moveTo>
                <a:lnTo>
                  <a:pt x="45720" y="0"/>
                </a:lnTo>
                <a:lnTo>
                  <a:pt x="134620" y="0"/>
                </a:lnTo>
                <a:lnTo>
                  <a:pt x="88900" y="45720"/>
                </a:lnTo>
                <a:close/>
              </a:path>
            </a:pathLst>
          </a:custGeom>
          <a:solidFill>
            <a:srgbClr val="F4F4F4"/>
          </a:solidFill>
          <a:ln w="4572" cap="flat">
            <a:solidFill>
              <a:srgbClr val="000000"/>
            </a:solidFill>
            <a:miter lim="800000"/>
          </a:ln>
        </p:spPr>
        <p:txBody>
          <a:bodyPr rtlCol="0" anchor="ctr" wrap="none" lIns="0" tIns="0" rIns="0" bIns="0"/>
          <a:lstStyle/>
          <a:p>
            <a:endParaRPr lang="en-US"/>
          </a:p>
        </p:txBody>
      </p:sp>
      <p:sp>
        <p:nvSpPr>
          <p:cNvPr id="5" name="SlabSide 5"/>
          <p:cNvSpPr/>
          <p:nvPr/>
        </p:nvSpPr>
        <p:spPr>
          <a:xfrm>
            <a:off x="322021" y="340360"/>
            <a:ext cx="45720" cy="401320"/>
          </a:xfrm>
          <a:custGeom>
            <a:avLst/>
            <a:gdLst/>
            <a:ahLst/>
            <a:cxnLst/>
            <a:rect l="0" t="0" r="r" b="b"/>
            <a:pathLst>
              <a:path w="45720" h="401320">
                <a:moveTo>
                  <a:pt x="0" y="45720"/>
                </a:moveTo>
                <a:lnTo>
                  <a:pt x="45720" y="0"/>
                </a:lnTo>
                <a:lnTo>
                  <a:pt x="45720" y="355600"/>
                </a:lnTo>
                <a:lnTo>
                  <a:pt x="0" y="401320"/>
                </a:lnTo>
                <a:close/>
              </a:path>
            </a:pathLst>
          </a:custGeom>
          <a:solidFill>
            <a:srgbClr val="D9D9D9"/>
          </a:solidFill>
          <a:ln w="4572" cap="flat">
            <a:solidFill>
              <a:srgbClr val="000000"/>
            </a:solidFill>
            <a:miter lim="800000"/>
          </a:ln>
        </p:spPr>
        <p:txBody>
          <a:bodyPr rtlCol="0" anchor="ctr" wrap="none" lIns="0" tIns="0" rIns="0" bIns="0"/>
          <a:lstStyle/>
          <a:p>
            <a:endParaRPr lang="en-US"/>
          </a:p>
        </p:txBody>
      </p:sp>
      <p:sp>
        <p:nvSpPr>
          <p:cNvPr id="6" name="SlabFace 6"/>
          <p:cNvSpPr/>
          <p:nvPr/>
        </p:nvSpPr>
        <p:spPr>
          <a:xfrm>
            <a:off x="233121" y="386080"/>
            <a:ext cx="88900" cy="355600"/>
          </a:xfrm>
          <a:prstGeom prst="rect">
            <a:avLst/>
          </a:prstGeom>
          <a:solidFill>
            <a:srgbClr val="F2F2F2"/>
          </a:solidFill>
          <a:ln w="4572" cap="flat">
            <a:solidFill>
              <a:srgbClr val="000000"/>
            </a:solidFill>
            <a:miter lim="800000"/>
          </a:ln>
        </p:spPr>
        <p:txBody>
          <a:bodyPr rtlCol="0" anchor="ctr" wrap="none" lIns="0" tIns="0" rIns="0" bIns="0"/>
          <a:lstStyle/>
          <a:p>
            <a:endParaRPr lang="en-US"/>
          </a:p>
        </p:txBody>
      </p:sp>
      <p:sp>
        <p:nvSpPr>
          <p:cNvPr id="7" name="SlabTop 7"/>
          <p:cNvSpPr/>
          <p:nvPr/>
        </p:nvSpPr>
        <p:spPr>
          <a:xfrm>
            <a:off x="360121" y="340360"/>
            <a:ext cx="134620" cy="45720"/>
          </a:xfrm>
          <a:custGeom>
            <a:avLst/>
            <a:gdLst/>
            <a:ahLst/>
            <a:cxnLst/>
            <a:rect l="0" t="0" r="r" b="b"/>
            <a:pathLst>
              <a:path w="134620" h="45720">
                <a:moveTo>
                  <a:pt x="0" y="45720"/>
                </a:moveTo>
                <a:lnTo>
                  <a:pt x="45720" y="0"/>
                </a:lnTo>
                <a:lnTo>
                  <a:pt x="134620" y="0"/>
                </a:lnTo>
                <a:lnTo>
                  <a:pt x="88900" y="45720"/>
                </a:lnTo>
                <a:close/>
              </a:path>
            </a:pathLst>
          </a:custGeom>
          <a:solidFill>
            <a:srgbClr val="F4F4F4"/>
          </a:solidFill>
          <a:ln w="4572" cap="flat">
            <a:solidFill>
              <a:srgbClr val="000000"/>
            </a:solidFill>
            <a:miter lim="800000"/>
          </a:ln>
        </p:spPr>
        <p:txBody>
          <a:bodyPr rtlCol="0" anchor="ctr" wrap="none" lIns="0" tIns="0" rIns="0" bIns="0"/>
          <a:lstStyle/>
          <a:p>
            <a:endParaRPr lang="en-US"/>
          </a:p>
        </p:txBody>
      </p:sp>
      <p:sp>
        <p:nvSpPr>
          <p:cNvPr id="8" name="SlabSide 8"/>
          <p:cNvSpPr/>
          <p:nvPr/>
        </p:nvSpPr>
        <p:spPr>
          <a:xfrm>
            <a:off x="449021" y="340360"/>
            <a:ext cx="45720" cy="401320"/>
          </a:xfrm>
          <a:custGeom>
            <a:avLst/>
            <a:gdLst/>
            <a:ahLst/>
            <a:cxnLst/>
            <a:rect l="0" t="0" r="r" b="b"/>
            <a:pathLst>
              <a:path w="45720" h="401320">
                <a:moveTo>
                  <a:pt x="0" y="45720"/>
                </a:moveTo>
                <a:lnTo>
                  <a:pt x="45720" y="0"/>
                </a:lnTo>
                <a:lnTo>
                  <a:pt x="45720" y="355600"/>
                </a:lnTo>
                <a:lnTo>
                  <a:pt x="0" y="401320"/>
                </a:lnTo>
                <a:close/>
              </a:path>
            </a:pathLst>
          </a:custGeom>
          <a:solidFill>
            <a:srgbClr val="D9D9D9"/>
          </a:solidFill>
          <a:ln w="4572" cap="flat">
            <a:solidFill>
              <a:srgbClr val="000000"/>
            </a:solidFill>
            <a:miter lim="800000"/>
          </a:ln>
        </p:spPr>
        <p:txBody>
          <a:bodyPr rtlCol="0" anchor="ctr" wrap="none" lIns="0" tIns="0" rIns="0" bIns="0"/>
          <a:lstStyle/>
          <a:p>
            <a:endParaRPr lang="en-US"/>
          </a:p>
        </p:txBody>
      </p:sp>
      <p:sp>
        <p:nvSpPr>
          <p:cNvPr id="9" name="SlabFace 9"/>
          <p:cNvSpPr/>
          <p:nvPr/>
        </p:nvSpPr>
        <p:spPr>
          <a:xfrm>
            <a:off x="360121" y="386080"/>
            <a:ext cx="88900" cy="355600"/>
          </a:xfrm>
          <a:prstGeom prst="rect">
            <a:avLst/>
          </a:prstGeom>
          <a:solidFill>
            <a:srgbClr val="F2F2F2"/>
          </a:solidFill>
          <a:ln w="4572" cap="flat">
            <a:solidFill>
              <a:srgbClr val="000000"/>
            </a:solidFill>
            <a:miter lim="800000"/>
          </a:ln>
        </p:spPr>
        <p:txBody>
          <a:bodyPr rtlCol="0" anchor="ctr" wrap="none" lIns="0" tIns="0" rIns="0" bIns="0"/>
          <a:lstStyle/>
          <a:p>
            <a:endParaRPr lang="en-US"/>
          </a:p>
        </p:txBody>
      </p:sp>
      <p:sp>
        <p:nvSpPr>
          <p:cNvPr id="10" name="SlabTop 10"/>
          <p:cNvSpPr/>
          <p:nvPr/>
        </p:nvSpPr>
        <p:spPr>
          <a:xfrm>
            <a:off x="487121" y="340360"/>
            <a:ext cx="134620" cy="45720"/>
          </a:xfrm>
          <a:custGeom>
            <a:avLst/>
            <a:gdLst/>
            <a:ahLst/>
            <a:cxnLst/>
            <a:rect l="0" t="0" r="r" b="b"/>
            <a:pathLst>
              <a:path w="134620" h="45720">
                <a:moveTo>
                  <a:pt x="0" y="45720"/>
                </a:moveTo>
                <a:lnTo>
                  <a:pt x="45720" y="0"/>
                </a:lnTo>
                <a:lnTo>
                  <a:pt x="134620" y="0"/>
                </a:lnTo>
                <a:lnTo>
                  <a:pt x="88900" y="45720"/>
                </a:lnTo>
                <a:close/>
              </a:path>
            </a:pathLst>
          </a:custGeom>
          <a:solidFill>
            <a:srgbClr val="F4F4F4"/>
          </a:solidFill>
          <a:ln w="4572" cap="flat">
            <a:solidFill>
              <a:srgbClr val="000000"/>
            </a:solidFill>
            <a:miter lim="800000"/>
          </a:ln>
        </p:spPr>
        <p:txBody>
          <a:bodyPr rtlCol="0" anchor="ctr" wrap="none" lIns="0" tIns="0" rIns="0" bIns="0"/>
          <a:lstStyle/>
          <a:p>
            <a:endParaRPr lang="en-US"/>
          </a:p>
        </p:txBody>
      </p:sp>
      <p:sp>
        <p:nvSpPr>
          <p:cNvPr id="11" name="SlabSide 11"/>
          <p:cNvSpPr/>
          <p:nvPr/>
        </p:nvSpPr>
        <p:spPr>
          <a:xfrm>
            <a:off x="576021" y="340360"/>
            <a:ext cx="45720" cy="401320"/>
          </a:xfrm>
          <a:custGeom>
            <a:avLst/>
            <a:gdLst/>
            <a:ahLst/>
            <a:cxnLst/>
            <a:rect l="0" t="0" r="r" b="b"/>
            <a:pathLst>
              <a:path w="45720" h="401320">
                <a:moveTo>
                  <a:pt x="0" y="45720"/>
                </a:moveTo>
                <a:lnTo>
                  <a:pt x="45720" y="0"/>
                </a:lnTo>
                <a:lnTo>
                  <a:pt x="45720" y="355600"/>
                </a:lnTo>
                <a:lnTo>
                  <a:pt x="0" y="401320"/>
                </a:lnTo>
                <a:close/>
              </a:path>
            </a:pathLst>
          </a:custGeom>
          <a:solidFill>
            <a:srgbClr val="D9D9D9"/>
          </a:solidFill>
          <a:ln w="4572" cap="flat">
            <a:solidFill>
              <a:srgbClr val="000000"/>
            </a:solidFill>
            <a:miter lim="800000"/>
          </a:ln>
        </p:spPr>
        <p:txBody>
          <a:bodyPr rtlCol="0" anchor="ctr" wrap="none" lIns="0" tIns="0" rIns="0" bIns="0"/>
          <a:lstStyle/>
          <a:p>
            <a:endParaRPr lang="en-US"/>
          </a:p>
        </p:txBody>
      </p:sp>
      <p:sp>
        <p:nvSpPr>
          <p:cNvPr id="12" name="SlabFace 12"/>
          <p:cNvSpPr/>
          <p:nvPr/>
        </p:nvSpPr>
        <p:spPr>
          <a:xfrm>
            <a:off x="487121" y="386080"/>
            <a:ext cx="88900" cy="355600"/>
          </a:xfrm>
          <a:prstGeom prst="rect">
            <a:avLst/>
          </a:prstGeom>
          <a:solidFill>
            <a:srgbClr val="F2F2F2"/>
          </a:solidFill>
          <a:ln w="4572" cap="flat">
            <a:solidFill>
              <a:srgbClr val="000000"/>
            </a:solidFill>
            <a:miter lim="800000"/>
          </a:ln>
        </p:spPr>
        <p:txBody>
          <a:bodyPr rtlCol="0" anchor="ctr" wrap="none" lIns="0" tIns="0" rIns="0" bIns="0"/>
          <a:lstStyle/>
          <a:p>
            <a:endParaRPr lang="en-US"/>
          </a:p>
        </p:txBody>
      </p:sp>
      <p:sp>
        <p:nvSpPr>
          <p:cNvPr id="13" name="SlabTop 13"/>
          <p:cNvSpPr/>
          <p:nvPr/>
        </p:nvSpPr>
        <p:spPr>
          <a:xfrm>
            <a:off x="614121" y="340360"/>
            <a:ext cx="134620" cy="45720"/>
          </a:xfrm>
          <a:custGeom>
            <a:avLst/>
            <a:gdLst/>
            <a:ahLst/>
            <a:cxnLst/>
            <a:rect l="0" t="0" r="r" b="b"/>
            <a:pathLst>
              <a:path w="134620" h="45720">
                <a:moveTo>
                  <a:pt x="0" y="45720"/>
                </a:moveTo>
                <a:lnTo>
                  <a:pt x="45720" y="0"/>
                </a:lnTo>
                <a:lnTo>
                  <a:pt x="134620" y="0"/>
                </a:lnTo>
                <a:lnTo>
                  <a:pt x="88900" y="45720"/>
                </a:lnTo>
                <a:close/>
              </a:path>
            </a:pathLst>
          </a:custGeom>
          <a:solidFill>
            <a:srgbClr val="F4F4F4"/>
          </a:solidFill>
          <a:ln w="4572" cap="flat">
            <a:solidFill>
              <a:srgbClr val="000000"/>
            </a:solidFill>
            <a:miter lim="800000"/>
          </a:ln>
        </p:spPr>
        <p:txBody>
          <a:bodyPr rtlCol="0" anchor="ctr" wrap="none" lIns="0" tIns="0" rIns="0" bIns="0"/>
          <a:lstStyle/>
          <a:p>
            <a:endParaRPr lang="en-US"/>
          </a:p>
        </p:txBody>
      </p:sp>
      <p:sp>
        <p:nvSpPr>
          <p:cNvPr id="14" name="SlabSide 14"/>
          <p:cNvSpPr/>
          <p:nvPr/>
        </p:nvSpPr>
        <p:spPr>
          <a:xfrm>
            <a:off x="703021" y="340360"/>
            <a:ext cx="45720" cy="401320"/>
          </a:xfrm>
          <a:custGeom>
            <a:avLst/>
            <a:gdLst/>
            <a:ahLst/>
            <a:cxnLst/>
            <a:rect l="0" t="0" r="r" b="b"/>
            <a:pathLst>
              <a:path w="45720" h="401320">
                <a:moveTo>
                  <a:pt x="0" y="45720"/>
                </a:moveTo>
                <a:lnTo>
                  <a:pt x="45720" y="0"/>
                </a:lnTo>
                <a:lnTo>
                  <a:pt x="45720" y="355600"/>
                </a:lnTo>
                <a:lnTo>
                  <a:pt x="0" y="401320"/>
                </a:lnTo>
                <a:close/>
              </a:path>
            </a:pathLst>
          </a:custGeom>
          <a:solidFill>
            <a:srgbClr val="D9D9D9"/>
          </a:solidFill>
          <a:ln w="4572" cap="flat">
            <a:solidFill>
              <a:srgbClr val="000000"/>
            </a:solidFill>
            <a:miter lim="800000"/>
          </a:ln>
        </p:spPr>
        <p:txBody>
          <a:bodyPr rtlCol="0" anchor="ctr" wrap="none" lIns="0" tIns="0" rIns="0" bIns="0"/>
          <a:lstStyle/>
          <a:p>
            <a:endParaRPr lang="en-US"/>
          </a:p>
        </p:txBody>
      </p:sp>
      <p:sp>
        <p:nvSpPr>
          <p:cNvPr id="15" name="SlabFace 15"/>
          <p:cNvSpPr/>
          <p:nvPr/>
        </p:nvSpPr>
        <p:spPr>
          <a:xfrm>
            <a:off x="614121" y="386080"/>
            <a:ext cx="88900" cy="355600"/>
          </a:xfrm>
          <a:prstGeom prst="rect">
            <a:avLst/>
          </a:prstGeom>
          <a:solidFill>
            <a:srgbClr val="F2F2F2"/>
          </a:solidFill>
          <a:ln w="4572" cap="flat">
            <a:solidFill>
              <a:srgbClr val="000000"/>
            </a:solidFill>
            <a:miter lim="800000"/>
          </a:ln>
        </p:spPr>
        <p:txBody>
          <a:bodyPr rtlCol="0" anchor="ctr" wrap="none" lIns="0" tIns="0" rIns="0" bIns="0"/>
          <a:lstStyle/>
          <a:p>
            <a:endParaRPr lang="en-US"/>
          </a:p>
        </p:txBody>
      </p:sp>
      <p:sp>
        <p:nvSpPr>
          <p:cNvPr id="16" name="SlabTop 16"/>
          <p:cNvSpPr/>
          <p:nvPr/>
        </p:nvSpPr>
        <p:spPr>
          <a:xfrm>
            <a:off x="741121" y="340360"/>
            <a:ext cx="134620" cy="45720"/>
          </a:xfrm>
          <a:custGeom>
            <a:avLst/>
            <a:gdLst/>
            <a:ahLst/>
            <a:cxnLst/>
            <a:rect l="0" t="0" r="r" b="b"/>
            <a:pathLst>
              <a:path w="134620" h="45720">
                <a:moveTo>
                  <a:pt x="0" y="45720"/>
                </a:moveTo>
                <a:lnTo>
                  <a:pt x="45720" y="0"/>
                </a:lnTo>
                <a:lnTo>
                  <a:pt x="134620" y="0"/>
                </a:lnTo>
                <a:lnTo>
                  <a:pt x="88900" y="45720"/>
                </a:lnTo>
                <a:close/>
              </a:path>
            </a:pathLst>
          </a:custGeom>
          <a:solidFill>
            <a:srgbClr val="F4F4F4"/>
          </a:solidFill>
          <a:ln w="4572" cap="flat">
            <a:solidFill>
              <a:srgbClr val="000000"/>
            </a:solidFill>
            <a:miter lim="800000"/>
          </a:ln>
        </p:spPr>
        <p:txBody>
          <a:bodyPr rtlCol="0" anchor="ctr" wrap="none" lIns="0" tIns="0" rIns="0" bIns="0"/>
          <a:lstStyle/>
          <a:p>
            <a:endParaRPr lang="en-US"/>
          </a:p>
        </p:txBody>
      </p:sp>
      <p:sp>
        <p:nvSpPr>
          <p:cNvPr id="17" name="SlabSide 17"/>
          <p:cNvSpPr/>
          <p:nvPr/>
        </p:nvSpPr>
        <p:spPr>
          <a:xfrm>
            <a:off x="830021" y="340360"/>
            <a:ext cx="45720" cy="401320"/>
          </a:xfrm>
          <a:custGeom>
            <a:avLst/>
            <a:gdLst/>
            <a:ahLst/>
            <a:cxnLst/>
            <a:rect l="0" t="0" r="r" b="b"/>
            <a:pathLst>
              <a:path w="45720" h="401320">
                <a:moveTo>
                  <a:pt x="0" y="45720"/>
                </a:moveTo>
                <a:lnTo>
                  <a:pt x="45720" y="0"/>
                </a:lnTo>
                <a:lnTo>
                  <a:pt x="45720" y="355600"/>
                </a:lnTo>
                <a:lnTo>
                  <a:pt x="0" y="401320"/>
                </a:lnTo>
                <a:close/>
              </a:path>
            </a:pathLst>
          </a:custGeom>
          <a:solidFill>
            <a:srgbClr val="D9D9D9"/>
          </a:solidFill>
          <a:ln w="4572" cap="flat">
            <a:solidFill>
              <a:srgbClr val="000000"/>
            </a:solidFill>
            <a:miter lim="800000"/>
          </a:ln>
        </p:spPr>
        <p:txBody>
          <a:bodyPr rtlCol="0" anchor="ctr" wrap="none" lIns="0" tIns="0" rIns="0" bIns="0"/>
          <a:lstStyle/>
          <a:p>
            <a:endParaRPr lang="en-US"/>
          </a:p>
        </p:txBody>
      </p:sp>
      <p:sp>
        <p:nvSpPr>
          <p:cNvPr id="18" name="SlabFace 18"/>
          <p:cNvSpPr/>
          <p:nvPr/>
        </p:nvSpPr>
        <p:spPr>
          <a:xfrm>
            <a:off x="741121" y="386080"/>
            <a:ext cx="88900" cy="355600"/>
          </a:xfrm>
          <a:prstGeom prst="rect">
            <a:avLst/>
          </a:prstGeom>
          <a:solidFill>
            <a:srgbClr val="F2F2F2"/>
          </a:solidFill>
          <a:ln w="4572" cap="flat">
            <a:solidFill>
              <a:srgbClr val="000000"/>
            </a:solidFill>
            <a:miter lim="800000"/>
          </a:ln>
        </p:spPr>
        <p:txBody>
          <a:bodyPr rtlCol="0" anchor="ctr" wrap="none" lIns="0" tIns="0" rIns="0" bIns="0"/>
          <a:lstStyle/>
          <a:p>
            <a:endParaRPr lang="en-US"/>
          </a:p>
        </p:txBody>
      </p:sp>
      <p:sp>
        <p:nvSpPr>
          <p:cNvPr id="19" name="SlabTop 19"/>
          <p:cNvSpPr/>
          <p:nvPr/>
        </p:nvSpPr>
        <p:spPr>
          <a:xfrm>
            <a:off x="868121" y="340360"/>
            <a:ext cx="134620" cy="45720"/>
          </a:xfrm>
          <a:custGeom>
            <a:avLst/>
            <a:gdLst/>
            <a:ahLst/>
            <a:cxnLst/>
            <a:rect l="0" t="0" r="r" b="b"/>
            <a:pathLst>
              <a:path w="134620" h="45720">
                <a:moveTo>
                  <a:pt x="0" y="45720"/>
                </a:moveTo>
                <a:lnTo>
                  <a:pt x="45720" y="0"/>
                </a:lnTo>
                <a:lnTo>
                  <a:pt x="134620" y="0"/>
                </a:lnTo>
                <a:lnTo>
                  <a:pt x="88900" y="45720"/>
                </a:lnTo>
                <a:close/>
              </a:path>
            </a:pathLst>
          </a:custGeom>
          <a:solidFill>
            <a:srgbClr val="F4F4F4"/>
          </a:solidFill>
          <a:ln w="4572" cap="flat">
            <a:solidFill>
              <a:srgbClr val="000000"/>
            </a:solidFill>
            <a:miter lim="800000"/>
          </a:ln>
        </p:spPr>
        <p:txBody>
          <a:bodyPr rtlCol="0" anchor="ctr" wrap="none" lIns="0" tIns="0" rIns="0" bIns="0"/>
          <a:lstStyle/>
          <a:p>
            <a:endParaRPr lang="en-US"/>
          </a:p>
        </p:txBody>
      </p:sp>
      <p:sp>
        <p:nvSpPr>
          <p:cNvPr id="20" name="SlabSide 20"/>
          <p:cNvSpPr/>
          <p:nvPr/>
        </p:nvSpPr>
        <p:spPr>
          <a:xfrm>
            <a:off x="957021" y="340360"/>
            <a:ext cx="45720" cy="401320"/>
          </a:xfrm>
          <a:custGeom>
            <a:avLst/>
            <a:gdLst/>
            <a:ahLst/>
            <a:cxnLst/>
            <a:rect l="0" t="0" r="r" b="b"/>
            <a:pathLst>
              <a:path w="45720" h="401320">
                <a:moveTo>
                  <a:pt x="0" y="45720"/>
                </a:moveTo>
                <a:lnTo>
                  <a:pt x="45720" y="0"/>
                </a:lnTo>
                <a:lnTo>
                  <a:pt x="45720" y="355600"/>
                </a:lnTo>
                <a:lnTo>
                  <a:pt x="0" y="401320"/>
                </a:lnTo>
                <a:close/>
              </a:path>
            </a:pathLst>
          </a:custGeom>
          <a:solidFill>
            <a:srgbClr val="D9D9D9"/>
          </a:solidFill>
          <a:ln w="4572" cap="flat">
            <a:solidFill>
              <a:srgbClr val="000000"/>
            </a:solidFill>
            <a:miter lim="800000"/>
          </a:ln>
        </p:spPr>
        <p:txBody>
          <a:bodyPr rtlCol="0" anchor="ctr" wrap="none" lIns="0" tIns="0" rIns="0" bIns="0"/>
          <a:lstStyle/>
          <a:p>
            <a:endParaRPr lang="en-US"/>
          </a:p>
        </p:txBody>
      </p:sp>
      <p:sp>
        <p:nvSpPr>
          <p:cNvPr id="21" name="SlabFace 21"/>
          <p:cNvSpPr/>
          <p:nvPr/>
        </p:nvSpPr>
        <p:spPr>
          <a:xfrm>
            <a:off x="868121" y="386080"/>
            <a:ext cx="88900" cy="355600"/>
          </a:xfrm>
          <a:prstGeom prst="rect">
            <a:avLst/>
          </a:prstGeom>
          <a:solidFill>
            <a:srgbClr val="F2F2F2"/>
          </a:solidFill>
          <a:ln w="4572" cap="flat">
            <a:solidFill>
              <a:srgbClr val="000000"/>
            </a:solidFill>
            <a:miter lim="800000"/>
          </a:ln>
        </p:spPr>
        <p:txBody>
          <a:bodyPr rtlCol="0" anchor="ctr" wrap="none" lIns="0" tIns="0" rIns="0" bIns="0"/>
          <a:lstStyle/>
          <a:p>
            <a:endParaRPr lang="en-US"/>
          </a:p>
        </p:txBody>
      </p:sp>
      <p:sp>
        <p:nvSpPr>
          <p:cNvPr id="22" name="Caption 22"/>
          <p:cNvSpPr txBox="1"/>
          <p:nvPr/>
        </p:nvSpPr>
        <p:spPr>
          <a:xfrm>
            <a:off x="233121" y="779780"/>
            <a:ext cx="769620" cy="95250"/>
          </a:xfrm>
          <a:prstGeom prst="rect">
            <a:avLst/>
          </a:prstGeom>
          <a:noFill/>
        </p:spPr>
        <p:txBody>
          <a:bodyPr rtlCol="0" anchor="ctr" wrap="none" lIns="0" tIns="0" rIns="0" bIns="0">
            <a:spAutoFit/>
          </a:bodyPr>
          <a:lstStyle/>
          <a:p>
            <a:pPr algn="ctr"/>
            <a:r>
              <a:rPr lang="en-US" sz="650" dirty="0">
                <a:solidFill>
                  <a:srgbClr val="000000"/>
                </a:solidFill>
                <a:latin typeface="Times New Roman"/>
                <a:cs typeface="Times New Roman"/>
              </a:rPr>
              <a:t>M0 ... MT</a:t>
            </a:r>
          </a:p>
        </p:txBody>
      </p:sp>
      <p:sp>
        <p:nvSpPr>
          <p:cNvPr id="23" name="Module 23"/>
          <p:cNvSpPr/>
          <p:nvPr/>
        </p:nvSpPr>
        <p:spPr>
          <a:xfrm>
            <a:off x="139700" y="976630"/>
            <a:ext cx="956462" cy="187960"/>
          </a:xfrm>
          <a:prstGeom prst="roundRect">
            <a:avLst>
              <a:gd name="adj" fmla="val 17567"/>
            </a:avLst>
          </a:prstGeom>
          <a:solidFill>
            <a:srgbClr val="E2F0D9"/>
          </a:solidFill>
          <a:ln w="4572" cap="flat">
            <a:solidFill>
              <a:srgbClr val="000000"/>
            </a:solidFill>
            <a:miter lim="800000"/>
          </a:ln>
        </p:spPr>
        <p:txBody>
          <a:bodyPr rtlCol="0" anchor="ctr" wrap="none" lIns="0" tIns="0" rIns="0" bIns="0">
            <a:spAutoFit/>
          </a:bodyPr>
          <a:lstStyle/>
          <a:p>
            <a:pPr algn="ctr"/>
            <a:r>
              <a:rPr lang="en-US" sz="640" dirty="0">
                <a:solidFill>
                  <a:srgbClr val="000000"/>
                </a:solidFill>
                <a:latin typeface="Times New Roman"/>
                <a:cs typeface="Times New Roman"/>
              </a:rPr>
              <a:t>training-free refinement</a:t>
            </a:r>
          </a:p>
        </p:txBody>
      </p:sp>
      <p:sp>
        <p:nvSpPr>
          <p:cNvPr id="24" name="Stage 24"/>
          <p:cNvSpPr/>
          <p:nvPr/>
        </p:nvSpPr>
        <p:spPr>
          <a:xfrm>
            <a:off x="1478407" y="238760"/>
            <a:ext cx="734111" cy="708660"/>
          </a:xfrm>
          <a:prstGeom prst="roundRect">
            <a:avLst>
              <a:gd name="adj" fmla="val 4659"/>
            </a:avLst>
          </a:prstGeom>
          <a:noFill/>
          <a:ln w="4572" cap="flat">
            <a:solidFill>
              <a:srgbClr val="A6A6A6"/>
            </a:solidFill>
            <a:prstDash val="dash"/>
            <a:miter lim="800000"/>
          </a:ln>
        </p:spPr>
        <p:txBody>
          <a:bodyPr rtlCol="0" anchor="ctr" wrap="none" lIns="0" tIns="0" rIns="0" bIns="0"/>
          <a:lstStyle/>
          <a:p>
            <a:endParaRPr lang="en-US"/>
          </a:p>
        </p:txBody>
      </p:sp>
      <p:sp>
        <p:nvSpPr>
          <p:cNvPr id="25" name="StageTitle 25"/>
          <p:cNvSpPr txBox="1"/>
          <p:nvPr/>
        </p:nvSpPr>
        <p:spPr>
          <a:xfrm>
            <a:off x="1478407" y="88900"/>
            <a:ext cx="734111" cy="124460"/>
          </a:xfrm>
          <a:prstGeom prst="rect">
            <a:avLst/>
          </a:prstGeom>
          <a:noFill/>
        </p:spPr>
        <p:txBody>
          <a:bodyPr rtlCol="0" anchor="ctr" wrap="none" lIns="0" tIns="0" rIns="0" bIns="0">
            <a:spAutoFit/>
          </a:bodyPr>
          <a:lstStyle/>
          <a:p>
            <a:pPr algn="ctr"/>
            <a:r>
              <a:rPr lang="en-US" sz="780" b="1" i="1" dirty="0">
                <a:solidFill>
                  <a:srgbClr val="000000"/>
                </a:solidFill>
                <a:latin typeface="Times New Roman"/>
                <a:cs typeface="Times New Roman"/>
              </a:rPr>
              <a:t>Original selector</a:t>
            </a:r>
          </a:p>
        </p:txBody>
      </p:sp>
      <p:sp>
        <p:nvSpPr>
          <p:cNvPr id="26" name="Module 26"/>
          <p:cNvSpPr/>
          <p:nvPr/>
        </p:nvSpPr>
        <p:spPr>
          <a:xfrm>
            <a:off x="1580007" y="340360"/>
            <a:ext cx="530911" cy="195580"/>
          </a:xfrm>
          <a:prstGeom prst="roundRect">
            <a:avLst>
              <a:gd name="adj" fmla="val 16883"/>
            </a:avLst>
          </a:prstGeom>
          <a:solidFill>
            <a:srgbClr val="DEEBF7"/>
          </a:solidFill>
          <a:ln w="4572" cap="flat">
            <a:solidFill>
              <a:srgbClr val="000000"/>
            </a:solidFill>
            <a:miter lim="800000"/>
          </a:ln>
        </p:spPr>
        <p:txBody>
          <a:bodyPr rtlCol="0" anchor="ctr" wrap="none" lIns="0" tIns="0" rIns="0" bIns="0">
            <a:spAutoFit/>
          </a:bodyPr>
          <a:lstStyle/>
          <a:p>
            <a:pPr algn="ctr"/>
            <a:r>
              <a:rPr lang="en-US" sz="700" dirty="0">
                <a:solidFill>
                  <a:srgbClr val="000000"/>
                </a:solidFill>
                <a:latin typeface="Times New Roman"/>
                <a:cs typeface="Times New Roman"/>
              </a:rPr>
              <a:t>S</a:t>
            </a:r>
            <a:r>
              <a:rPr lang="en-US" sz="700" baseline="-25000" dirty="0">
                <a:solidFill>
                  <a:srgbClr val="000000"/>
                </a:solidFill>
                <a:latin typeface="Times New Roman"/>
                <a:cs typeface="Times New Roman"/>
              </a:rPr>
              <a:t>o</a:t>
            </a:r>
            <a:r>
              <a:rPr lang="en-US" sz="700" dirty="0">
                <a:solidFill>
                  <a:srgbClr val="000000"/>
                </a:solidFill>
                <a:latin typeface="Times New Roman"/>
                <a:cs typeface="Times New Roman"/>
              </a:rPr>
              <a:t>rig(t)</a:t>
            </a:r>
          </a:p>
        </p:txBody>
      </p:sp>
      <p:sp>
        <p:nvSpPr>
          <p:cNvPr id="27" name="Module 27"/>
          <p:cNvSpPr/>
          <p:nvPr/>
        </p:nvSpPr>
        <p:spPr>
          <a:xfrm>
            <a:off x="1580007" y="650240"/>
            <a:ext cx="530911" cy="195580"/>
          </a:xfrm>
          <a:prstGeom prst="roundRect">
            <a:avLst>
              <a:gd name="adj" fmla="val 16883"/>
            </a:avLst>
          </a:prstGeom>
          <a:solidFill>
            <a:srgbClr val="F2F2F2"/>
          </a:solidFill>
          <a:ln w="4572" cap="flat">
            <a:solidFill>
              <a:srgbClr val="000000"/>
            </a:solidFill>
            <a:miter lim="800000"/>
          </a:ln>
        </p:spPr>
        <p:txBody>
          <a:bodyPr rtlCol="0" anchor="ctr" wrap="none" lIns="0" tIns="0" rIns="0" bIns="0">
            <a:spAutoFit/>
          </a:bodyPr>
          <a:lstStyle/>
          <a:p>
            <a:pPr algn="ctr"/>
            <a:r>
              <a:rPr lang="en-US" sz="700" dirty="0">
                <a:solidFill>
                  <a:srgbClr val="000000"/>
                </a:solidFill>
                <a:latin typeface="Times New Roman"/>
                <a:cs typeface="Times New Roman"/>
              </a:rPr>
              <a:t>proposal t</a:t>
            </a:r>
          </a:p>
        </p:txBody>
      </p:sp>
      <p:sp>
        <p:nvSpPr>
          <p:cNvPr id="28" name="Stage 28"/>
          <p:cNvSpPr/>
          <p:nvPr/>
        </p:nvSpPr>
        <p:spPr>
          <a:xfrm>
            <a:off x="148603" y="1543050"/>
            <a:ext cx="938670" cy="1009650"/>
          </a:xfrm>
          <a:prstGeom prst="roundRect">
            <a:avLst>
              <a:gd name="adj" fmla="val 3517"/>
            </a:avLst>
          </a:prstGeom>
          <a:noFill/>
          <a:ln w="4572" cap="flat">
            <a:solidFill>
              <a:srgbClr val="A6A6A6"/>
            </a:solidFill>
            <a:prstDash val="dash"/>
            <a:miter lim="800000"/>
          </a:ln>
        </p:spPr>
        <p:txBody>
          <a:bodyPr rtlCol="0" anchor="ctr" wrap="none" lIns="0" tIns="0" rIns="0" bIns="0"/>
          <a:lstStyle/>
          <a:p>
            <a:endParaRPr lang="en-US"/>
          </a:p>
        </p:txBody>
      </p:sp>
      <p:sp>
        <p:nvSpPr>
          <p:cNvPr id="29" name="StageTitle 29"/>
          <p:cNvSpPr txBox="1"/>
          <p:nvPr/>
        </p:nvSpPr>
        <p:spPr>
          <a:xfrm>
            <a:off x="148603" y="1393190"/>
            <a:ext cx="938670" cy="124460"/>
          </a:xfrm>
          <a:prstGeom prst="rect">
            <a:avLst/>
          </a:prstGeom>
          <a:noFill/>
        </p:spPr>
        <p:txBody>
          <a:bodyPr rtlCol="0" anchor="ctr" wrap="none" lIns="0" tIns="0" rIns="0" bIns="0">
            <a:spAutoFit/>
          </a:bodyPr>
          <a:lstStyle/>
          <a:p>
            <a:pPr algn="ctr"/>
            <a:r>
              <a:rPr lang="en-US" sz="780" b="1" i="1" dirty="0">
                <a:solidFill>
                  <a:srgbClr val="000000"/>
                </a:solidFill>
                <a:latin typeface="Times New Roman"/>
                <a:cs typeface="Times New Roman"/>
              </a:rPr>
              <a:t>Final output</a:t>
            </a:r>
          </a:p>
        </p:txBody>
      </p:sp>
      <p:sp>
        <p:nvSpPr>
          <p:cNvPr id="30" name="Module 30"/>
          <p:cNvSpPr/>
          <p:nvPr/>
        </p:nvSpPr>
        <p:spPr>
          <a:xfrm>
            <a:off x="250203" y="1644650"/>
            <a:ext cx="735470" cy="195580"/>
          </a:xfrm>
          <a:prstGeom prst="roundRect">
            <a:avLst>
              <a:gd name="adj" fmla="val 16883"/>
            </a:avLst>
          </a:prstGeom>
          <a:solidFill>
            <a:srgbClr val="FFF2CC"/>
          </a:solidFill>
          <a:ln w="4572" cap="flat">
            <a:solidFill>
              <a:srgbClr val="000000"/>
            </a:solidFill>
            <a:miter lim="800000"/>
          </a:ln>
        </p:spPr>
        <p:txBody>
          <a:bodyPr rtlCol="0" anchor="ctr" wrap="none" lIns="0" tIns="0" rIns="0" bIns="0">
            <a:spAutoFit/>
          </a:bodyPr>
          <a:lstStyle/>
          <a:p>
            <a:pPr algn="ctr"/>
            <a:r>
              <a:rPr lang="en-US" sz="700" dirty="0">
                <a:solidFill>
                  <a:srgbClr val="000000"/>
                </a:solidFill>
                <a:latin typeface="Times New Roman"/>
                <a:cs typeface="Times New Roman"/>
              </a:rPr>
              <a:t>accept Mt</a:t>
            </a:r>
          </a:p>
        </p:txBody>
      </p:sp>
      <p:sp>
        <p:nvSpPr>
          <p:cNvPr id="31" name="Module 31"/>
          <p:cNvSpPr/>
          <p:nvPr/>
        </p:nvSpPr>
        <p:spPr>
          <a:xfrm>
            <a:off x="250203" y="1954530"/>
            <a:ext cx="735470" cy="195580"/>
          </a:xfrm>
          <a:prstGeom prst="roundRect">
            <a:avLst>
              <a:gd name="adj" fmla="val 16883"/>
            </a:avLst>
          </a:prstGeom>
          <a:solidFill>
            <a:srgbClr val="E7E6E6"/>
          </a:solidFill>
          <a:ln w="4572" cap="flat">
            <a:solidFill>
              <a:srgbClr val="000000"/>
            </a:solidFill>
            <a:miter lim="800000"/>
          </a:ln>
        </p:spPr>
        <p:txBody>
          <a:bodyPr rtlCol="0" anchor="ctr" wrap="none" lIns="0" tIns="0" rIns="0" bIns="0">
            <a:spAutoFit/>
          </a:bodyPr>
          <a:lstStyle/>
          <a:p>
            <a:pPr algn="ctr"/>
            <a:r>
              <a:rPr lang="en-US" sz="700" dirty="0">
                <a:solidFill>
                  <a:srgbClr val="000000"/>
                </a:solidFill>
                <a:latin typeface="Times New Roman"/>
                <a:cs typeface="Times New Roman"/>
              </a:rPr>
              <a:t>fallback M0</a:t>
            </a:r>
          </a:p>
        </p:txBody>
      </p:sp>
      <p:sp>
        <p:nvSpPr>
          <p:cNvPr id="32" name="Module 32"/>
          <p:cNvSpPr/>
          <p:nvPr/>
        </p:nvSpPr>
        <p:spPr>
          <a:xfrm>
            <a:off x="250203" y="2264410"/>
            <a:ext cx="735470" cy="186690"/>
          </a:xfrm>
          <a:prstGeom prst="roundRect">
            <a:avLst>
              <a:gd name="adj" fmla="val 17687"/>
            </a:avLst>
          </a:prstGeom>
          <a:solidFill>
            <a:srgbClr val="DEEBF7"/>
          </a:solidFill>
          <a:ln w="4572" cap="flat">
            <a:solidFill>
              <a:srgbClr val="000000"/>
            </a:solidFill>
            <a:miter lim="800000"/>
          </a:ln>
        </p:spPr>
        <p:txBody>
          <a:bodyPr rtlCol="0" anchor="ctr" wrap="none" lIns="0" tIns="0" rIns="0" bIns="0">
            <a:spAutoFit/>
          </a:bodyPr>
          <a:lstStyle/>
          <a:p>
            <a:pPr algn="ctr"/>
            <a:r>
              <a:rPr lang="en-US" sz="630" dirty="0">
                <a:solidFill>
                  <a:srgbClr val="000000"/>
                </a:solidFill>
                <a:latin typeface="Times New Roman"/>
                <a:cs typeface="Times New Roman"/>
              </a:rPr>
              <a:t>selective fallback</a:t>
            </a:r>
          </a:p>
        </p:txBody>
      </p:sp>
      <p:sp>
        <p:nvSpPr>
          <p:cNvPr id="33" name="Stage 33"/>
          <p:cNvSpPr/>
          <p:nvPr/>
        </p:nvSpPr>
        <p:spPr>
          <a:xfrm>
            <a:off x="1324762" y="1543050"/>
            <a:ext cx="1041400" cy="830580"/>
          </a:xfrm>
          <a:prstGeom prst="roundRect">
            <a:avLst>
              <a:gd name="adj" fmla="val 3975"/>
            </a:avLst>
          </a:prstGeom>
          <a:solidFill>
            <a:srgbClr val="FFF9E6"/>
          </a:solidFill>
          <a:ln w="4572" cap="flat">
            <a:solidFill>
              <a:srgbClr val="BF9000"/>
            </a:solidFill>
            <a:prstDash val="dash"/>
            <a:miter lim="800000"/>
          </a:ln>
        </p:spPr>
        <p:txBody>
          <a:bodyPr rtlCol="0" anchor="ctr" wrap="none" lIns="0" tIns="0" rIns="0" bIns="0"/>
          <a:lstStyle/>
          <a:p>
            <a:endParaRPr lang="en-US"/>
          </a:p>
        </p:txBody>
      </p:sp>
      <p:sp>
        <p:nvSpPr>
          <p:cNvPr id="34" name="StageTitle 34"/>
          <p:cNvSpPr txBox="1"/>
          <p:nvPr/>
        </p:nvSpPr>
        <p:spPr>
          <a:xfrm>
            <a:off x="1324762" y="1393190"/>
            <a:ext cx="1041400" cy="124460"/>
          </a:xfrm>
          <a:prstGeom prst="rect">
            <a:avLst/>
          </a:prstGeom>
          <a:noFill/>
        </p:spPr>
        <p:txBody>
          <a:bodyPr rtlCol="0" anchor="ctr" wrap="none" lIns="0" tIns="0" rIns="0" bIns="0">
            <a:spAutoFit/>
          </a:bodyPr>
          <a:lstStyle/>
          <a:p>
            <a:pPr algn="ctr"/>
            <a:r>
              <a:rPr lang="en-US" sz="780" b="1" i="1" dirty="0">
                <a:solidFill>
                  <a:srgbClr val="000000"/>
                </a:solidFill>
                <a:latin typeface="Times New Roman"/>
                <a:cs typeface="Times New Roman"/>
              </a:rPr>
              <a:t>Baseline-relative gate</a:t>
            </a:r>
          </a:p>
        </p:txBody>
      </p:sp>
      <p:sp>
        <p:nvSpPr>
          <p:cNvPr id="35" name="Module 35"/>
          <p:cNvSpPr/>
          <p:nvPr/>
        </p:nvSpPr>
        <p:spPr>
          <a:xfrm>
            <a:off x="1426362" y="1644650"/>
            <a:ext cx="838200" cy="195580"/>
          </a:xfrm>
          <a:prstGeom prst="roundRect">
            <a:avLst>
              <a:gd name="adj" fmla="val 16883"/>
            </a:avLst>
          </a:prstGeom>
          <a:solidFill>
            <a:srgbClr val="FFF2CC"/>
          </a:solidFill>
          <a:ln w="4572" cap="flat">
            <a:solidFill>
              <a:srgbClr val="000000"/>
            </a:solidFill>
            <a:miter lim="800000"/>
          </a:ln>
        </p:spPr>
        <p:txBody>
          <a:bodyPr rtlCol="0" anchor="ctr" wrap="none" lIns="0" tIns="0" rIns="0" bIns="0">
            <a:spAutoFit/>
          </a:bodyPr>
          <a:lstStyle/>
          <a:p>
            <a:pPr algn="ctr"/>
            <a:r>
              <a:rPr lang="en-US" sz="700" dirty="0">
                <a:solidFill>
                  <a:srgbClr val="000000"/>
                </a:solidFill>
                <a:latin typeface="Times New Roman"/>
                <a:cs typeface="Times New Roman"/>
              </a:rPr>
              <a:t>compare to M0</a:t>
            </a:r>
          </a:p>
        </p:txBody>
      </p:sp>
      <p:sp>
        <p:nvSpPr>
          <p:cNvPr id="36" name="Shape 36"/>
          <p:cNvSpPr/>
          <p:nvPr/>
        </p:nvSpPr>
        <p:spPr>
          <a:xfrm>
            <a:off x="1426362" y="1954530"/>
            <a:ext cx="838200" cy="317500"/>
          </a:xfrm>
          <a:custGeom>
            <a:avLst/>
            <a:gdLst/>
            <a:ahLst/>
            <a:cxnLst/>
            <a:rect l="0" t="0" r="r" b="b"/>
            <a:pathLst>
              <a:path w="838200" h="317500">
                <a:moveTo>
                  <a:pt x="134112" y="0"/>
                </a:moveTo>
                <a:lnTo>
                  <a:pt x="704088" y="0"/>
                </a:lnTo>
                <a:lnTo>
                  <a:pt x="838200" y="158750"/>
                </a:lnTo>
                <a:lnTo>
                  <a:pt x="704088" y="317500"/>
                </a:lnTo>
                <a:lnTo>
                  <a:pt x="134112" y="317500"/>
                </a:lnTo>
                <a:lnTo>
                  <a:pt x="0" y="158750"/>
                </a:lnTo>
                <a:close/>
              </a:path>
            </a:pathLst>
          </a:custGeom>
          <a:solidFill>
            <a:srgbClr val="FFD966"/>
          </a:solidFill>
          <a:ln w="4572" cap="flat">
            <a:solidFill>
              <a:srgbClr val="000000"/>
            </a:solidFill>
            <a:miter lim="800000"/>
          </a:ln>
        </p:spPr>
        <p:txBody>
          <a:bodyPr rtlCol="0" anchor="ctr" wrap="none" lIns="0" tIns="0" rIns="0" bIns="0">
            <a:spAutoFit/>
          </a:bodyPr>
          <a:lstStyle/>
          <a:p>
            <a:pPr algn="ctr"/>
            <a:r>
              <a:rPr lang="en-US" sz="700" dirty="0">
                <a:solidFill>
                  <a:srgbClr val="000000"/>
                </a:solidFill>
                <a:latin typeface="Times New Roman"/>
                <a:cs typeface="Times New Roman"/>
              </a:rPr>
              <a:t>support + foreground</a:t>
            </a:r>
          </a:p>
          <a:p>
            <a:pPr algn="ctr"/>
            <a:r>
              <a:rPr lang="en-US" sz="700" dirty="0">
                <a:solidFill>
                  <a:srgbClr val="000000"/>
                </a:solidFill>
                <a:latin typeface="Times New Roman"/>
                <a:cs typeface="Times New Roman"/>
              </a:rPr>
              <a:t>not worse</a:t>
            </a:r>
          </a:p>
        </p:txBody>
      </p:sp>
      <p:sp>
        <p:nvSpPr>
          <p:cNvPr id="37" name="Flow 37"/>
          <p:cNvSpPr/>
          <p:nvPr/>
        </p:nvSpPr>
        <p:spPr>
          <a:xfrm>
            <a:off x="617931" y="862330"/>
            <a:ext cx="1270" cy="114300"/>
          </a:xfrm>
          <a:custGeom>
            <a:avLst/>
            <a:gdLst/>
            <a:ahLst/>
            <a:cxnLst/>
            <a:rect l="0" t="0" r="r" b="b"/>
            <a:pathLst>
              <a:path w="127" h="114300" fill="none">
                <a:moveTo>
                  <a:pt x="0" y="114300"/>
                </a:moveTo>
                <a:lnTo>
                  <a:pt x="0" y="0"/>
                </a:lnTo>
              </a:path>
            </a:pathLst>
          </a:custGeom>
          <a:noFill/>
          <a:ln w="4572" cap="flat">
            <a:solidFill>
              <a:srgbClr val="548235"/>
            </a:solidFill>
            <a:miter lim="800000"/>
            <a:tailEnd type="triangle" w="med" len="med"/>
          </a:ln>
        </p:spPr>
        <p:txBody>
          <a:bodyPr rtlCol="0" anchor="ctr" wrap="none" lIns="0" tIns="0" rIns="0" bIns="0"/>
          <a:lstStyle/>
          <a:p>
            <a:endParaRPr lang="en-US"/>
          </a:p>
        </p:txBody>
      </p:sp>
      <p:sp>
        <p:nvSpPr>
          <p:cNvPr id="38" name="Flow 38"/>
          <p:cNvSpPr/>
          <p:nvPr/>
        </p:nvSpPr>
        <p:spPr>
          <a:xfrm>
            <a:off x="1002741" y="438150"/>
            <a:ext cx="577266" cy="163195"/>
          </a:xfrm>
          <a:custGeom>
            <a:avLst/>
            <a:gdLst/>
            <a:ahLst/>
            <a:cxnLst/>
            <a:rect l="0" t="0" r="r" b="b"/>
            <a:pathLst>
              <a:path w="577266" h="163195" fill="none">
                <a:moveTo>
                  <a:pt x="0" y="163195"/>
                </a:moveTo>
                <a:lnTo>
                  <a:pt x="288633" y="163195"/>
                </a:lnTo>
                <a:lnTo>
                  <a:pt x="288633" y="0"/>
                </a:lnTo>
                <a:lnTo>
                  <a:pt x="577266" y="0"/>
                </a:lnTo>
              </a:path>
            </a:pathLst>
          </a:custGeom>
          <a:noFill/>
          <a:ln w="5715" cap="flat">
            <a:solidFill>
              <a:srgbClr val="7F7F7F"/>
            </a:solidFill>
            <a:miter lim="800000"/>
            <a:tailEnd type="triangle" w="med" len="med"/>
          </a:ln>
        </p:spPr>
        <p:txBody>
          <a:bodyPr rtlCol="0" anchor="ctr" wrap="none" lIns="0" tIns="0" rIns="0" bIns="0"/>
          <a:lstStyle/>
          <a:p>
            <a:endParaRPr lang="en-US"/>
          </a:p>
        </p:txBody>
      </p:sp>
      <p:sp>
        <p:nvSpPr>
          <p:cNvPr id="39" name="Flow 39"/>
          <p:cNvSpPr/>
          <p:nvPr/>
        </p:nvSpPr>
        <p:spPr>
          <a:xfrm>
            <a:off x="1845462" y="535940"/>
            <a:ext cx="1270" cy="114300"/>
          </a:xfrm>
          <a:custGeom>
            <a:avLst/>
            <a:gdLst/>
            <a:ahLst/>
            <a:cxnLst/>
            <a:rect l="0" t="0" r="r" b="b"/>
            <a:pathLst>
              <a:path w="127" h="114300" fill="none">
                <a:moveTo>
                  <a:pt x="0" y="0"/>
                </a:moveTo>
                <a:lnTo>
                  <a:pt x="0" y="114300"/>
                </a:lnTo>
              </a:path>
            </a:pathLst>
          </a:custGeom>
          <a:noFill/>
          <a:ln w="5715" cap="flat">
            <a:solidFill>
              <a:srgbClr val="2E75B6"/>
            </a:solidFill>
            <a:miter lim="800000"/>
            <a:tailEnd type="triangle" w="med" len="med"/>
          </a:ln>
        </p:spPr>
        <p:txBody>
          <a:bodyPr rtlCol="0" anchor="ctr" wrap="none" lIns="0" tIns="0" rIns="0" bIns="0"/>
          <a:lstStyle/>
          <a:p>
            <a:endParaRPr lang="en-US"/>
          </a:p>
        </p:txBody>
      </p:sp>
      <p:sp>
        <p:nvSpPr>
          <p:cNvPr id="40" name="Flow 40"/>
          <p:cNvSpPr/>
          <p:nvPr/>
        </p:nvSpPr>
        <p:spPr>
          <a:xfrm>
            <a:off x="1845462" y="845820"/>
            <a:ext cx="1270" cy="798830"/>
          </a:xfrm>
          <a:custGeom>
            <a:avLst/>
            <a:gdLst/>
            <a:ahLst/>
            <a:cxnLst/>
            <a:rect l="0" t="0" r="r" b="b"/>
            <a:pathLst>
              <a:path w="127" h="798830" fill="none">
                <a:moveTo>
                  <a:pt x="0" y="0"/>
                </a:moveTo>
                <a:lnTo>
                  <a:pt x="0" y="798830"/>
                </a:lnTo>
              </a:path>
            </a:pathLst>
          </a:custGeom>
          <a:noFill/>
          <a:ln w="10160" cap="flat">
            <a:solidFill>
              <a:srgbClr val="BF9000"/>
            </a:solidFill>
            <a:miter lim="800000"/>
            <a:tailEnd type="triangle" w="med" len="med"/>
          </a:ln>
        </p:spPr>
        <p:txBody>
          <a:bodyPr rtlCol="0" anchor="ctr" wrap="none" lIns="0" tIns="0" rIns="0" bIns="0"/>
          <a:lstStyle/>
          <a:p>
            <a:endParaRPr lang="en-US"/>
          </a:p>
        </p:txBody>
      </p:sp>
      <p:sp>
        <p:nvSpPr>
          <p:cNvPr id="41" name="Flow 41"/>
          <p:cNvSpPr/>
          <p:nvPr/>
        </p:nvSpPr>
        <p:spPr>
          <a:xfrm>
            <a:off x="1845462" y="1840230"/>
            <a:ext cx="1270" cy="114300"/>
          </a:xfrm>
          <a:custGeom>
            <a:avLst/>
            <a:gdLst/>
            <a:ahLst/>
            <a:cxnLst/>
            <a:rect l="0" t="0" r="r" b="b"/>
            <a:pathLst>
              <a:path w="127" h="114300" fill="none">
                <a:moveTo>
                  <a:pt x="0" y="0"/>
                </a:moveTo>
                <a:lnTo>
                  <a:pt x="0" y="114300"/>
                </a:lnTo>
              </a:path>
            </a:pathLst>
          </a:custGeom>
          <a:noFill/>
          <a:ln w="4572" cap="flat">
            <a:solidFill>
              <a:srgbClr val="BF9000"/>
            </a:solidFill>
            <a:miter lim="800000"/>
            <a:tailEnd type="triangle" w="med" len="med"/>
          </a:ln>
        </p:spPr>
        <p:txBody>
          <a:bodyPr rtlCol="0" anchor="ctr" wrap="none" lIns="0" tIns="0" rIns="0" bIns="0"/>
          <a:lstStyle/>
          <a:p>
            <a:endParaRPr lang="en-US"/>
          </a:p>
        </p:txBody>
      </p:sp>
      <p:sp>
        <p:nvSpPr>
          <p:cNvPr id="42" name="Flow 42"/>
          <p:cNvSpPr/>
          <p:nvPr/>
        </p:nvSpPr>
        <p:spPr>
          <a:xfrm>
            <a:off x="985672" y="1742440"/>
            <a:ext cx="440690" cy="370840"/>
          </a:xfrm>
          <a:custGeom>
            <a:avLst/>
            <a:gdLst/>
            <a:ahLst/>
            <a:cxnLst/>
            <a:rect l="0" t="0" r="r" b="b"/>
            <a:pathLst>
              <a:path w="440690" h="370840" fill="none">
                <a:moveTo>
                  <a:pt x="440690" y="370840"/>
                </a:moveTo>
                <a:lnTo>
                  <a:pt x="220345" y="370840"/>
                </a:lnTo>
                <a:lnTo>
                  <a:pt x="220345" y="0"/>
                </a:lnTo>
                <a:lnTo>
                  <a:pt x="0" y="0"/>
                </a:lnTo>
              </a:path>
            </a:pathLst>
          </a:custGeom>
          <a:noFill/>
          <a:ln w="5715" cap="flat">
            <a:solidFill>
              <a:srgbClr val="BF9000"/>
            </a:solidFill>
            <a:miter lim="800000"/>
            <a:tailEnd type="triangle" w="med" len="med"/>
          </a:ln>
        </p:spPr>
        <p:txBody>
          <a:bodyPr rtlCol="0" anchor="ctr" wrap="none" lIns="0" tIns="0" rIns="0" bIns="0"/>
          <a:lstStyle/>
          <a:p>
            <a:endParaRPr lang="en-US"/>
          </a:p>
        </p:txBody>
      </p:sp>
      <p:sp>
        <p:nvSpPr>
          <p:cNvPr id="43" name="Flow 43"/>
          <p:cNvSpPr/>
          <p:nvPr/>
        </p:nvSpPr>
        <p:spPr>
          <a:xfrm>
            <a:off x="985672" y="2052320"/>
            <a:ext cx="440690" cy="60960"/>
          </a:xfrm>
          <a:custGeom>
            <a:avLst/>
            <a:gdLst/>
            <a:ahLst/>
            <a:cxnLst/>
            <a:rect l="0" t="0" r="r" b="b"/>
            <a:pathLst>
              <a:path w="440690" h="60960" fill="none">
                <a:moveTo>
                  <a:pt x="440690" y="60960"/>
                </a:moveTo>
                <a:lnTo>
                  <a:pt x="220345" y="60960"/>
                </a:lnTo>
                <a:lnTo>
                  <a:pt x="220345" y="0"/>
                </a:lnTo>
                <a:lnTo>
                  <a:pt x="0" y="0"/>
                </a:lnTo>
              </a:path>
            </a:pathLst>
          </a:custGeom>
          <a:noFill/>
          <a:ln w="5715" cap="flat">
            <a:solidFill>
              <a:srgbClr val="7F7F7F"/>
            </a:solidFill>
            <a:miter lim="800000"/>
            <a:tailEnd type="triangle" w="med" len="med"/>
          </a:ln>
        </p:spPr>
        <p:txBody>
          <a:bodyPr rtlCol="0" anchor="ctr" wrap="none" lIns="0" tIns="0" rIns="0" bIns="0"/>
          <a:lstStyle/>
          <a:p>
            <a:endParaRPr lang="en-US"/>
          </a:p>
        </p:txBody>
      </p:sp>
      <p:sp>
        <p:nvSpPr>
          <p:cNvPr id="44" name="Flow 44"/>
          <p:cNvSpPr/>
          <p:nvPr/>
        </p:nvSpPr>
        <p:spPr>
          <a:xfrm>
            <a:off x="617938" y="2150110"/>
            <a:ext cx="1270" cy="114300"/>
          </a:xfrm>
          <a:custGeom>
            <a:avLst/>
            <a:gdLst/>
            <a:ahLst/>
            <a:cxnLst/>
            <a:rect l="0" t="0" r="r" b="b"/>
            <a:pathLst>
              <a:path w="127" h="114300" fill="none">
                <a:moveTo>
                  <a:pt x="0" y="0"/>
                </a:moveTo>
                <a:lnTo>
                  <a:pt x="0" y="114300"/>
                </a:lnTo>
              </a:path>
            </a:pathLst>
          </a:custGeom>
          <a:noFill/>
          <a:ln w="4572" cap="flat">
            <a:solidFill>
              <a:srgbClr val="7F7F7F"/>
            </a:solidFill>
            <a:miter lim="800000"/>
            <a:tailEnd type="triangle" w="med" len="med"/>
          </a:ln>
        </p:spPr>
        <p:txBody>
          <a:bodyPr rtlCol="0" anchor="ctr" wrap="none" lIns="0" tIns="0" rIns="0" bIns="0"/>
          <a:lstStyle/>
          <a:p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CVPR-Figur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